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0" r:id="rId3"/>
    <p:sldMasterId id="2147483652" r:id="rId4"/>
  </p:sldMasterIdLst>
  <p:notesMasterIdLst>
    <p:notesMasterId r:id="rId6"/>
  </p:notesMasterIdLst>
  <p:handoutMasterIdLst>
    <p:handoutMasterId r:id="rId52"/>
  </p:handoutMasterIdLst>
  <p:sldIdLst>
    <p:sldId id="309" r:id="rId5"/>
    <p:sldId id="256" r:id="rId7"/>
    <p:sldId id="257" r:id="rId8"/>
    <p:sldId id="258" r:id="rId9"/>
    <p:sldId id="270" r:id="rId10"/>
    <p:sldId id="259" r:id="rId11"/>
    <p:sldId id="260" r:id="rId12"/>
    <p:sldId id="262" r:id="rId13"/>
    <p:sldId id="299" r:id="rId14"/>
    <p:sldId id="300" r:id="rId15"/>
    <p:sldId id="301" r:id="rId16"/>
    <p:sldId id="302" r:id="rId17"/>
    <p:sldId id="303" r:id="rId18"/>
    <p:sldId id="304" r:id="rId19"/>
    <p:sldId id="305" r:id="rId20"/>
    <p:sldId id="306" r:id="rId21"/>
    <p:sldId id="307" r:id="rId22"/>
    <p:sldId id="310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68" r:id="rId33"/>
    <p:sldId id="265" r:id="rId34"/>
    <p:sldId id="291" r:id="rId35"/>
    <p:sldId id="292" r:id="rId36"/>
    <p:sldId id="293" r:id="rId37"/>
    <p:sldId id="294" r:id="rId38"/>
    <p:sldId id="295" r:id="rId39"/>
    <p:sldId id="296" r:id="rId40"/>
    <p:sldId id="297" r:id="rId41"/>
    <p:sldId id="298" r:id="rId42"/>
    <p:sldId id="281" r:id="rId43"/>
    <p:sldId id="282" r:id="rId44"/>
    <p:sldId id="283" r:id="rId45"/>
    <p:sldId id="289" r:id="rId46"/>
    <p:sldId id="290" r:id="rId47"/>
    <p:sldId id="284" r:id="rId48"/>
    <p:sldId id="285" r:id="rId49"/>
    <p:sldId id="286" r:id="rId50"/>
    <p:sldId id="287" r:id="rId5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" Type="http://schemas.openxmlformats.org/officeDocument/2006/relationships/notesMaster" Target="notesMasters/notesMaster1.xml"/><Relationship Id="rId55" Type="http://schemas.openxmlformats.org/officeDocument/2006/relationships/tableStyles" Target="tableStyles.xml"/><Relationship Id="rId54" Type="http://schemas.openxmlformats.org/officeDocument/2006/relationships/viewProps" Target="viewProps.xml"/><Relationship Id="rId53" Type="http://schemas.openxmlformats.org/officeDocument/2006/relationships/presProps" Target="presProps.xml"/><Relationship Id="rId52" Type="http://schemas.openxmlformats.org/officeDocument/2006/relationships/handoutMaster" Target="handoutMasters/handoutMaster1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" Type="http://schemas.openxmlformats.org/officeDocument/2006/relationships/slide" Target="slides/slide1.xml"/><Relationship Id="rId49" Type="http://schemas.openxmlformats.org/officeDocument/2006/relationships/slide" Target="slides/slide4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0" Type="http://schemas.openxmlformats.org/officeDocument/2006/relationships/slide" Target="slides/slide35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0" Type="http://schemas.openxmlformats.org/officeDocument/2006/relationships/slide" Target="slides/slide15.xml"/><Relationship Id="rId2" Type="http://schemas.openxmlformats.org/officeDocument/2006/relationships/theme" Target="theme/theme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Class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explosion val="0"/>
          <c:dPt>
            <c:idx val="0"/>
            <c:bubble3D val="0"/>
            <c:spPr>
              <a:solidFill>
                <a:srgbClr val="155A8A"/>
              </a:solidFill>
              <a:effectLst/>
            </c:spPr>
          </c:dPt>
          <c:dPt>
            <c:idx val="1"/>
            <c:bubble3D val="0"/>
            <c:spPr>
              <a:solidFill>
                <a:srgbClr val="00A9C7"/>
              </a:solidFill>
              <a:effectLst/>
            </c:spPr>
          </c:dPt>
          <c:dLbls>
            <c:dLbl>
              <c:idx val="0"/>
              <c:layout/>
              <c:numFmt formatCode="General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1200" b="0" i="0" u="none" strike="noStrike" kern="1200" baseline="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dLbl>
              <c:idx val="1"/>
              <c:layout/>
              <c:numFmt formatCode="General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en-US" sz="1200" b="0" i="0" u="none" strike="noStrike" kern="1200" baseline="0">
                      <a:solidFill>
                        <a:srgbClr val="FFFFFF"/>
                      </a:solidFill>
                      <a:latin typeface="Arial" panose="020B0604020202020204"/>
                      <a:ea typeface="+mn-ea"/>
                      <a:cs typeface="+mn-cs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800" b="0" i="0" u="none" strike="noStrike" kern="1200" baseline="0">
                    <a:solidFill>
                      <a:srgbClr val="000000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Sheet1!$A$2:$A$3</c:f>
              <c:strCache>
                <c:ptCount val="2"/>
                <c:pt idx="0">
                  <c:v>No Heart Disease</c:v>
                </c:pt>
                <c:pt idx="1">
                  <c:v>Heart Disease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5220</c:v>
                </c:pt>
                <c:pt idx="1">
                  <c:v>279</c:v>
                </c:pt>
              </c:numCache>
            </c:numRef>
          </c:val>
        </c:ser>
        <c:dLbls>
          <c:showLegendKey val="0"/>
          <c:showVal val="0"/>
          <c:showCatName val="1"/>
          <c:showSerName val="0"/>
          <c:showPercent val="1"/>
          <c:showBubbleSize val="0"/>
          <c:showLeaderLines val="1"/>
        </c:dLbls>
        <c:firstSliceAng val="0"/>
        <c:holeSize val="55"/>
      </c:doughnutChart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555fa65f-5bed-4103-8272-3a2d78102ee2}"/>
      </c:ext>
    </c:extLst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71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61171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6C064A-D61B-4B21-B757-51A9B82445B8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11580284"/>
            <a:ext cx="2971800" cy="6117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11580284"/>
            <a:ext cx="2971800" cy="6117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305E07-67EA-4042-A3F6-853A8AD8D20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project uses the CDC NHANES dataset, a real-world clinical survey combining two recent cycles for 27,493 patient records and 22 input features. The target, HeartDisease, is binary and notably imbalanced — only about 5% of patients are positive cases, which shapes every modeling decision from here forward.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Before any transformation, the 22 input features are organized into four functional groups — core numerical, optional laboratory, binary, and the nominal Race field. Each group needs a different treatment because each represents a different kind of clinical information, which directly determines how the preprocessing pipeline in the next slide is built.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candidate algorithms — Logistic Regression, Random Forest, SVM, Gradient Boosting, XGBoost, and LightGBM — were trained and compared under identical conditions. Gradient Boosting was selected as the final model: it posted the highest ROC-AUC of the group at 95.67%, with a well-balanced profile across the remaining metrics, even though Logistic Regression edged it on raw Recall at the default threshold.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Gradient Boosting wasn't chosen for one standout number — it combined balanced performance, the top ROC-AUC, and probability outputs stable enough to support a lowered clinical decision threshold. It also stayed consistent as a tree ensemble compatible with SHAP, so the same model powers training, interpretation, and the deployed application.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confusion matrix shows 257 true positives against only 22 false negatives — a 92% Recall. That comes at the cost of 914 false positives, which is an accepted trade-off: in a screening context, missing a genuinely at-risk patient is far more costly than sending a healthy patient for an unnecessary follow-up.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SHAP was chosen because Gradient Boosting is a tree-based model, letting us use TreeExplainer for fast, exact explanations. Unlike the global feature importance chart shown here, SHAP produces a directional, per-patient explanation at inference time — that's what actually drives the specialist recommendation and action plan the clinician sees.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hf sldNum="0" hdr="0" ftr="0" dt="0"/>
  <p:txStyles>
    <p:titleStyle>
      <a:lvl1pPr algn="ctr" defTabSz="1219200" rtl="0" eaLnBrk="1" latinLnBrk="0" hangingPunct="1">
        <a:spcBef>
          <a:spcPct val="0"/>
        </a:spcBef>
        <a:buNone/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219200" rtl="0" eaLnBrk="1" latinLnBrk="0" hangingPunct="1">
        <a:spcBef>
          <a:spcPts val="130"/>
        </a:spcBef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defTabSz="1219200" rtl="0" eaLnBrk="1" latinLnBrk="0" hangingPunct="1">
        <a:spcBef>
          <a:spcPts val="130"/>
        </a:spcBef>
        <a:buFont typeface="Arial" panose="020B060402020202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defTabSz="1219200" rtl="0" eaLnBrk="1" latinLnBrk="0" hangingPunct="1">
        <a:spcBef>
          <a:spcPts val="13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defTabSz="1219200" rtl="0" eaLnBrk="1" latinLnBrk="0" hangingPunct="1">
        <a:spcBef>
          <a:spcPts val="130"/>
        </a:spcBef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defTabSz="1219200" rtl="0" eaLnBrk="1" latinLnBrk="0" hangingPunct="1">
        <a:spcBef>
          <a:spcPts val="130"/>
        </a:spcBef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ts val="13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ts val="13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ts val="13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ts val="13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3.xml"/><Relationship Id="rId5" Type="http://schemas.openxmlformats.org/officeDocument/2006/relationships/image" Target="../media/image5.jpeg"/><Relationship Id="rId4" Type="http://schemas.openxmlformats.org/officeDocument/2006/relationships/image" Target="../media/image4.jpeg"/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3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15.png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3" Type="http://schemas.openxmlformats.org/officeDocument/2006/relationships/image" Target="../media/image16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6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7.png"/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9.png"/><Relationship Id="rId1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2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image" Target="../media/image3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4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3.png"/><Relationship Id="rId3" Type="http://schemas.openxmlformats.org/officeDocument/2006/relationships/image" Target="../media/image32.png"/><Relationship Id="rId2" Type="http://schemas.openxmlformats.org/officeDocument/2006/relationships/image" Target="../media/image37.png"/><Relationship Id="rId1" Type="http://schemas.openxmlformats.org/officeDocument/2006/relationships/image" Target="../media/image3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8.png"/></Relationships>
</file>

<file path=ppt/slides/_rels/slide1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8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2.jpeg"/><Relationship Id="rId3" Type="http://schemas.openxmlformats.org/officeDocument/2006/relationships/image" Target="../media/image41.jpeg"/><Relationship Id="rId2" Type="http://schemas.openxmlformats.org/officeDocument/2006/relationships/image" Target="../media/image40.jpeg"/><Relationship Id="rId1" Type="http://schemas.openxmlformats.org/officeDocument/2006/relationships/image" Target="../media/image39.jpeg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50.png"/><Relationship Id="rId7" Type="http://schemas.openxmlformats.org/officeDocument/2006/relationships/image" Target="../media/image49.png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0" Type="http://schemas.openxmlformats.org/officeDocument/2006/relationships/notesSlide" Target="../notesSlides/notesSlide19.xml"/><Relationship Id="rId1" Type="http://schemas.openxmlformats.org/officeDocument/2006/relationships/image" Target="../media/image43.pn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0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2.jpeg"/><Relationship Id="rId1" Type="http://schemas.openxmlformats.org/officeDocument/2006/relationships/image" Target="../media/image51.jpeg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4.jpeg"/><Relationship Id="rId1" Type="http://schemas.openxmlformats.org/officeDocument/2006/relationships/image" Target="../media/image53.jpeg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6.jpeg"/><Relationship Id="rId1" Type="http://schemas.openxmlformats.org/officeDocument/2006/relationships/image" Target="../media/image55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7.jpeg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9.jpeg"/><Relationship Id="rId1" Type="http://schemas.openxmlformats.org/officeDocument/2006/relationships/image" Target="../media/image58.jpeg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5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1.jpeg"/><Relationship Id="rId1" Type="http://schemas.openxmlformats.org/officeDocument/2006/relationships/image" Target="../media/image60.jpeg"/></Relationships>
</file>

<file path=ppt/slides/_rels/slide2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6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4.jpeg"/><Relationship Id="rId2" Type="http://schemas.openxmlformats.org/officeDocument/2006/relationships/image" Target="../media/image63.jpeg"/><Relationship Id="rId1" Type="http://schemas.openxmlformats.org/officeDocument/2006/relationships/image" Target="../media/image62.jpeg"/></Relationships>
</file>

<file path=ppt/slides/_rels/slide2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7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67.png"/><Relationship Id="rId3" Type="http://schemas.openxmlformats.org/officeDocument/2006/relationships/image" Target="../media/image50.png"/><Relationship Id="rId2" Type="http://schemas.openxmlformats.org/officeDocument/2006/relationships/image" Target="../media/image66.png"/><Relationship Id="rId1" Type="http://schemas.openxmlformats.org/officeDocument/2006/relationships/image" Target="../media/image65.png"/></Relationships>
</file>

<file path=ppt/slides/_rels/slide2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8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2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9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71.png"/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image" Target="../media/image68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2.png"/></Relationships>
</file>

<file path=ppt/slides/_rels/slide31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31.xml"/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79.png"/><Relationship Id="rId6" Type="http://schemas.openxmlformats.org/officeDocument/2006/relationships/image" Target="../media/image78.png"/><Relationship Id="rId5" Type="http://schemas.openxmlformats.org/officeDocument/2006/relationships/image" Target="../media/image77.png"/><Relationship Id="rId4" Type="http://schemas.openxmlformats.org/officeDocument/2006/relationships/image" Target="../media/image76.png"/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image" Target="../media/image73.png"/></Relationships>
</file>

<file path=ppt/slides/_rels/slide3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2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83.png"/><Relationship Id="rId4" Type="http://schemas.openxmlformats.org/officeDocument/2006/relationships/image" Target="../media/image82.png"/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image" Target="../media/image74.png"/></Relationships>
</file>

<file path=ppt/slides/_rels/slide3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3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79.png"/><Relationship Id="rId2" Type="http://schemas.openxmlformats.org/officeDocument/2006/relationships/image" Target="../media/image84.png"/><Relationship Id="rId1" Type="http://schemas.openxmlformats.org/officeDocument/2006/relationships/image" Target="../media/image77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5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4.png"/></Relationships>
</file>

<file path=ppt/slides/_rels/slide3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6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80.png"/><Relationship Id="rId2" Type="http://schemas.openxmlformats.org/officeDocument/2006/relationships/image" Target="../media/image77.png"/><Relationship Id="rId1" Type="http://schemas.openxmlformats.org/officeDocument/2006/relationships/image" Target="../media/image86.png"/></Relationships>
</file>

<file path=ppt/slides/_rels/slide3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7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89.png"/><Relationship Id="rId3" Type="http://schemas.openxmlformats.org/officeDocument/2006/relationships/image" Target="../media/image88.png"/><Relationship Id="rId2" Type="http://schemas.openxmlformats.org/officeDocument/2006/relationships/image" Target="../media/image87.png"/><Relationship Id="rId1" Type="http://schemas.openxmlformats.org/officeDocument/2006/relationships/image" Target="../media/image86.png"/></Relationships>
</file>

<file path=ppt/slides/_rels/slide3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8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3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9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0.png"/><Relationship Id="rId1" Type="http://schemas.openxmlformats.org/officeDocument/2006/relationships/chart" Target="../charts/chart1.xml"/></Relationships>
</file>

<file path=ppt/slides/_rels/slide4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0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94.png"/><Relationship Id="rId3" Type="http://schemas.openxmlformats.org/officeDocument/2006/relationships/image" Target="../media/image93.png"/><Relationship Id="rId2" Type="http://schemas.openxmlformats.org/officeDocument/2006/relationships/image" Target="../media/image92.png"/><Relationship Id="rId1" Type="http://schemas.openxmlformats.org/officeDocument/2006/relationships/image" Target="../media/image91.png"/></Relationships>
</file>

<file path=ppt/slides/_rels/slide4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3.png"/><Relationship Id="rId8" Type="http://schemas.openxmlformats.org/officeDocument/2006/relationships/image" Target="../media/image102.png"/><Relationship Id="rId7" Type="http://schemas.openxmlformats.org/officeDocument/2006/relationships/image" Target="../media/image101.png"/><Relationship Id="rId6" Type="http://schemas.openxmlformats.org/officeDocument/2006/relationships/image" Target="../media/image100.png"/><Relationship Id="rId5" Type="http://schemas.openxmlformats.org/officeDocument/2006/relationships/image" Target="../media/image99.png"/><Relationship Id="rId4" Type="http://schemas.openxmlformats.org/officeDocument/2006/relationships/image" Target="../media/image98.png"/><Relationship Id="rId3" Type="http://schemas.openxmlformats.org/officeDocument/2006/relationships/image" Target="../media/image97.png"/><Relationship Id="rId2" Type="http://schemas.openxmlformats.org/officeDocument/2006/relationships/image" Target="../media/image96.png"/><Relationship Id="rId11" Type="http://schemas.openxmlformats.org/officeDocument/2006/relationships/notesSlide" Target="../notesSlides/notesSlide41.xml"/><Relationship Id="rId10" Type="http://schemas.openxmlformats.org/officeDocument/2006/relationships/slideLayout" Target="../slideLayouts/slideLayout2.xml"/><Relationship Id="rId1" Type="http://schemas.openxmlformats.org/officeDocument/2006/relationships/image" Target="../media/image95.png"/></Relationships>
</file>

<file path=ppt/slides/_rels/slide4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2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08.png"/><Relationship Id="rId4" Type="http://schemas.openxmlformats.org/officeDocument/2006/relationships/image" Target="../media/image107.png"/><Relationship Id="rId3" Type="http://schemas.openxmlformats.org/officeDocument/2006/relationships/image" Target="../media/image106.png"/><Relationship Id="rId2" Type="http://schemas.openxmlformats.org/officeDocument/2006/relationships/image" Target="../media/image105.png"/><Relationship Id="rId1" Type="http://schemas.openxmlformats.org/officeDocument/2006/relationships/image" Target="../media/image104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9.png"/></Relationships>
</file>

<file path=ppt/slides/_rels/slide4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9.png"/><Relationship Id="rId1" Type="http://schemas.openxmlformats.org/officeDocument/2006/relationships/image" Target="../media/image110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1.png"/></Relationships>
</file>

<file path=ppt/slides/_rels/slide4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6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79.png"/><Relationship Id="rId3" Type="http://schemas.openxmlformats.org/officeDocument/2006/relationships/image" Target="../media/image114.png"/><Relationship Id="rId2" Type="http://schemas.openxmlformats.org/officeDocument/2006/relationships/image" Target="../media/image113.png"/><Relationship Id="rId1" Type="http://schemas.openxmlformats.org/officeDocument/2006/relationships/image" Target="../media/image1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8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7760" y="652145"/>
            <a:ext cx="109728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335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Meet Our Team</a:t>
            </a:r>
            <a:endParaRPr lang="en-US" sz="5335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98495" y="316230"/>
            <a:ext cx="1219200" cy="12192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31520" y="1920240"/>
            <a:ext cx="5139267" cy="1914312"/>
          </a:xfrm>
          <a:prstGeom prst="rect">
            <a:avLst/>
          </a:prstGeom>
          <a:solidFill>
            <a:srgbClr val="0342C9"/>
          </a:solidFill>
        </p:spPr>
        <p:txBody>
          <a:bodyPr/>
          <a:lstStyle/>
          <a:p>
            <a:endParaRPr lang="en-US" sz="2400"/>
          </a:p>
        </p:txBody>
      </p:sp>
      <p:sp>
        <p:nvSpPr>
          <p:cNvPr id="5" name="Text 2"/>
          <p:cNvSpPr/>
          <p:nvPr/>
        </p:nvSpPr>
        <p:spPr>
          <a:xfrm>
            <a:off x="2140373" y="2172547"/>
            <a:ext cx="46329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Issac Riad</a:t>
            </a:r>
            <a:r>
              <a:rPr lang="en-US" sz="2400" dirty="0"/>
              <a:t> 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7071360" y="3901440"/>
            <a:ext cx="4632960" cy="487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865" dirty="0"/>
          </a:p>
        </p:txBody>
      </p:sp>
      <p:sp>
        <p:nvSpPr>
          <p:cNvPr id="7" name="Shape 4"/>
          <p:cNvSpPr/>
          <p:nvPr/>
        </p:nvSpPr>
        <p:spPr>
          <a:xfrm>
            <a:off x="6565053" y="1927013"/>
            <a:ext cx="5174827" cy="1907539"/>
          </a:xfrm>
          <a:prstGeom prst="rect">
            <a:avLst/>
          </a:prstGeom>
          <a:solidFill>
            <a:srgbClr val="0342C9"/>
          </a:solidFill>
        </p:spPr>
        <p:txBody>
          <a:bodyPr/>
          <a:lstStyle/>
          <a:p>
            <a:endParaRPr lang="en-US" sz="2400"/>
          </a:p>
        </p:txBody>
      </p:sp>
      <p:sp>
        <p:nvSpPr>
          <p:cNvPr id="8" name="Text 5"/>
          <p:cNvSpPr/>
          <p:nvPr/>
        </p:nvSpPr>
        <p:spPr>
          <a:xfrm>
            <a:off x="8087360" y="2152227"/>
            <a:ext cx="46329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AbdElmesseh Malak</a:t>
            </a:r>
            <a:r>
              <a:rPr lang="en-US" sz="2400" dirty="0"/>
              <a:t> 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140373" y="2873587"/>
            <a:ext cx="3671147" cy="487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65" i="1" dirty="0">
                <a:solidFill>
                  <a:srgbClr val="CDDCF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[Role: Backend Developer / Secuirty Engineer]</a:t>
            </a:r>
            <a:endParaRPr lang="en-US" sz="1865" dirty="0"/>
          </a:p>
        </p:txBody>
      </p:sp>
      <p:sp>
        <p:nvSpPr>
          <p:cNvPr id="10" name="Shape 7"/>
          <p:cNvSpPr/>
          <p:nvPr/>
        </p:nvSpPr>
        <p:spPr>
          <a:xfrm>
            <a:off x="731520" y="4470400"/>
            <a:ext cx="5139267" cy="1914312"/>
          </a:xfrm>
          <a:prstGeom prst="rect">
            <a:avLst/>
          </a:prstGeom>
          <a:solidFill>
            <a:srgbClr val="0342C9"/>
          </a:solidFill>
        </p:spPr>
        <p:txBody>
          <a:bodyPr/>
          <a:lstStyle/>
          <a:p>
            <a:endParaRPr lang="en-US" sz="2400"/>
          </a:p>
        </p:txBody>
      </p:sp>
      <p:sp>
        <p:nvSpPr>
          <p:cNvPr id="11" name="Text 8"/>
          <p:cNvSpPr/>
          <p:nvPr/>
        </p:nvSpPr>
        <p:spPr>
          <a:xfrm>
            <a:off x="2397760" y="4850552"/>
            <a:ext cx="46329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Kerolos Essa</a:t>
            </a:r>
            <a:r>
              <a:rPr lang="en-US" sz="2400" dirty="0"/>
              <a:t> 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2393527" y="5535504"/>
            <a:ext cx="4632960" cy="487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65" i="1" dirty="0">
                <a:solidFill>
                  <a:srgbClr val="CDDCF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[Role:UI/UX Designer ]</a:t>
            </a:r>
            <a:endParaRPr lang="en-US" sz="1865" dirty="0"/>
          </a:p>
        </p:txBody>
      </p:sp>
      <p:sp>
        <p:nvSpPr>
          <p:cNvPr id="13" name="Shape 10"/>
          <p:cNvSpPr/>
          <p:nvPr/>
        </p:nvSpPr>
        <p:spPr>
          <a:xfrm>
            <a:off x="6600613" y="4425525"/>
            <a:ext cx="5139267" cy="1914313"/>
          </a:xfrm>
          <a:prstGeom prst="rect">
            <a:avLst/>
          </a:prstGeom>
          <a:solidFill>
            <a:srgbClr val="0342C9"/>
          </a:solidFill>
        </p:spPr>
        <p:txBody>
          <a:bodyPr/>
          <a:lstStyle/>
          <a:p>
            <a:endParaRPr lang="en-US" sz="2400"/>
          </a:p>
        </p:txBody>
      </p:sp>
      <p:sp>
        <p:nvSpPr>
          <p:cNvPr id="14" name="Text 11"/>
          <p:cNvSpPr/>
          <p:nvPr/>
        </p:nvSpPr>
        <p:spPr>
          <a:xfrm>
            <a:off x="8068733" y="4731173"/>
            <a:ext cx="46329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Marvy Ehab</a:t>
            </a:r>
            <a:endParaRPr lang="en-US" sz="24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8059420" y="5307752"/>
            <a:ext cx="4632960" cy="487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65" i="1" dirty="0">
                <a:solidFill>
                  <a:srgbClr val="CDDCF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[Role: ML Engineer , Data Scienctist]</a:t>
            </a:r>
            <a:endParaRPr lang="en-US" sz="1865" dirty="0"/>
          </a:p>
        </p:txBody>
      </p:sp>
      <p:sp>
        <p:nvSpPr>
          <p:cNvPr id="16" name="Text Box 15"/>
          <p:cNvSpPr txBox="1"/>
          <p:nvPr/>
        </p:nvSpPr>
        <p:spPr>
          <a:xfrm>
            <a:off x="8068733" y="2728383"/>
            <a:ext cx="4614333" cy="748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en-US" sz="1865" i="1" dirty="0">
                <a:solidFill>
                  <a:srgbClr val="CDDCF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[Role: Flutter Developer]</a:t>
            </a:r>
            <a:endParaRPr lang="en-US" sz="1865" i="1" dirty="0">
              <a:solidFill>
                <a:srgbClr val="CDDCFE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endParaRPr lang="en-US" sz="2400" dirty="0"/>
          </a:p>
        </p:txBody>
      </p:sp>
      <p:sp>
        <p:nvSpPr>
          <p:cNvPr id="17" name="Flowchart: Connector 16"/>
          <p:cNvSpPr/>
          <p:nvPr/>
        </p:nvSpPr>
        <p:spPr>
          <a:xfrm>
            <a:off x="826347" y="2189904"/>
            <a:ext cx="1219200" cy="1316565"/>
          </a:xfrm>
          <a:prstGeom prst="flowChartConnector">
            <a:avLst/>
          </a:prstGeom>
          <a:blipFill>
            <a:blip r:embed="rId2"/>
            <a:stretch>
              <a:fillRect l="-36319" r="-44097" b="-80418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8" name="Flowchart: Connector 17"/>
          <p:cNvSpPr/>
          <p:nvPr/>
        </p:nvSpPr>
        <p:spPr>
          <a:xfrm>
            <a:off x="6715759" y="4669365"/>
            <a:ext cx="1276775" cy="1316565"/>
          </a:xfrm>
          <a:prstGeom prst="flowChartConnector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16421" t="-43304" r="-29981" b="-30010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9" name="Flowchart: Connector 18"/>
          <p:cNvSpPr/>
          <p:nvPr/>
        </p:nvSpPr>
        <p:spPr>
          <a:xfrm>
            <a:off x="1004571" y="4698699"/>
            <a:ext cx="1219200" cy="1316565"/>
          </a:xfrm>
          <a:prstGeom prst="flowChartConnector">
            <a:avLst/>
          </a:prstGeom>
          <a:blipFill>
            <a:blip r:embed="rId4"/>
            <a:stretch>
              <a:fillRect l="-44618" t="-17341" r="-35798" b="-63077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0" name="Flowchart: Connector 19"/>
          <p:cNvSpPr/>
          <p:nvPr/>
        </p:nvSpPr>
        <p:spPr>
          <a:xfrm>
            <a:off x="6773333" y="2201333"/>
            <a:ext cx="1219200" cy="1316565"/>
          </a:xfrm>
          <a:prstGeom prst="flowChartConnector">
            <a:avLst/>
          </a:prstGeom>
          <a:blipFill>
            <a:blip r:embed="rId5"/>
            <a:stretch>
              <a:fillRect l="-30694" t="1029" r="-49722" b="-81447"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ages/pulse_light.png"/>
          <p:cNvPicPr>
            <a:picLocks noChangeAspect="1"/>
          </p:cNvPicPr>
          <p:nvPr/>
        </p:nvPicPr>
        <p:blipFill>
          <a:blip r:embed="rId2">
            <a:alphaModFix amt="90000"/>
          </a:blip>
          <a:stretch>
            <a:fillRect/>
          </a:stretch>
        </p:blipFill>
        <p:spPr>
          <a:xfrm>
            <a:off x="6309360" y="4160520"/>
            <a:ext cx="5486400" cy="10058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1051560"/>
            <a:ext cx="8686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2B8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GRADUATION PROJECT  ·  AI-POWERED CARDIAC SCREENING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-372110" y="3927475"/>
            <a:ext cx="7772400" cy="23774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  <a:sym typeface="+mn-ea"/>
              </a:rPr>
              <a:t>Concept &amp; The "Why</a:t>
            </a:r>
            <a:r>
              <a:rPr lang="ar-EG" altLang="en-US" sz="4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  <a:sym typeface="+mn-ea"/>
              </a:rPr>
              <a:t>”</a:t>
            </a:r>
            <a:endParaRPr lang="ar-EG" altLang="en-US" sz="4000" b="1" dirty="0">
              <a:solidFill>
                <a:srgbClr val="FFFFFF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  <a:sym typeface="+mn-ea"/>
            </a:endParaRPr>
          </a:p>
        </p:txBody>
      </p:sp>
      <p:sp>
        <p:nvSpPr>
          <p:cNvPr id="5" name="Text 2"/>
          <p:cNvSpPr/>
          <p:nvPr/>
        </p:nvSpPr>
        <p:spPr>
          <a:xfrm>
            <a:off x="822960" y="3977640"/>
            <a:ext cx="70408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endParaRPr lang="ar-EG" altLang="en-US" sz="4000" b="1" dirty="0">
              <a:solidFill>
                <a:srgbClr val="FFFFFF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  <a:sym typeface="+mn-ea"/>
            </a:endParaRPr>
          </a:p>
        </p:txBody>
      </p:sp>
      <p:sp>
        <p:nvSpPr>
          <p:cNvPr id="6" name="Shape 3"/>
          <p:cNvSpPr/>
          <p:nvPr/>
        </p:nvSpPr>
        <p:spPr>
          <a:xfrm>
            <a:off x="822960" y="5074920"/>
            <a:ext cx="82296" cy="82296"/>
          </a:xfrm>
          <a:prstGeom prst="ellipse">
            <a:avLst/>
          </a:prstGeom>
          <a:solidFill>
            <a:srgbClr val="12B8A8"/>
          </a:solidFill>
        </p:spPr>
      </p:sp>
      <p:sp>
        <p:nvSpPr>
          <p:cNvPr id="7" name="Text 4"/>
          <p:cNvSpPr/>
          <p:nvPr/>
        </p:nvSpPr>
        <p:spPr>
          <a:xfrm>
            <a:off x="1024128" y="4956048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C3D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Presented as part of a graduating engineering cohort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092440" y="1234440"/>
            <a:ext cx="3291840" cy="3291840"/>
          </a:xfrm>
          <a:prstGeom prst="ellipse">
            <a:avLst/>
          </a:prstGeom>
          <a:solidFill>
            <a:srgbClr val="13527A">
              <a:alpha val="65000"/>
            </a:srgbClr>
          </a:solidFill>
        </p:spPr>
      </p:sp>
      <p:sp>
        <p:nvSpPr>
          <p:cNvPr id="9" name="Shape 6"/>
          <p:cNvSpPr/>
          <p:nvPr/>
        </p:nvSpPr>
        <p:spPr>
          <a:xfrm>
            <a:off x="8549640" y="1691640"/>
            <a:ext cx="2377440" cy="2377440"/>
          </a:xfrm>
          <a:prstGeom prst="ellipse">
            <a:avLst/>
          </a:prstGeom>
          <a:solidFill>
            <a:srgbClr val="0F3D63"/>
          </a:solidFill>
          <a:ln w="15875">
            <a:solidFill>
              <a:srgbClr val="6FD8CB"/>
            </a:solidFill>
            <a:prstDash val="solid"/>
          </a:ln>
          <a:effectLst>
            <a:outerShdw blurRad="228600" dist="76200" dir="5400000" algn="bl" rotWithShape="0">
              <a:srgbClr val="0A2647">
                <a:alpha val="10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0" y="2057400"/>
            <a:ext cx="1645920" cy="16459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2B8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PAIN POINT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5156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9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 Global Crisis, Measured in Heartbeats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37160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7A9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Cardiovascular disease remains the leading cause of death worldwide — and most of it is preventable.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822960" y="2057400"/>
            <a:ext cx="3240938" cy="4251960"/>
          </a:xfrm>
          <a:prstGeom prst="roundRect">
            <a:avLst>
              <a:gd name="adj" fmla="val 3950"/>
            </a:avLst>
          </a:prstGeom>
          <a:solidFill>
            <a:srgbClr val="FFFFFF"/>
          </a:solidFill>
          <a:effectLst>
            <a:outerShdw blurRad="228600" dist="76200" dir="5400000" algn="bl" rotWithShape="0">
              <a:srgbClr val="0A2647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475378" y="2057400"/>
            <a:ext cx="3240938" cy="4251960"/>
          </a:xfrm>
          <a:prstGeom prst="roundRect">
            <a:avLst>
              <a:gd name="adj" fmla="val 3950"/>
            </a:avLst>
          </a:prstGeom>
          <a:solidFill>
            <a:srgbClr val="FFFFFF"/>
          </a:solidFill>
          <a:effectLst>
            <a:outerShdw blurRad="228600" dist="76200" dir="5400000" algn="bl" rotWithShape="0">
              <a:srgbClr val="0A2647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127797" y="2057400"/>
            <a:ext cx="3240938" cy="4251960"/>
          </a:xfrm>
          <a:prstGeom prst="roundRect">
            <a:avLst>
              <a:gd name="adj" fmla="val 3950"/>
            </a:avLst>
          </a:prstGeom>
          <a:solidFill>
            <a:srgbClr val="FFFFFF"/>
          </a:solidFill>
          <a:effectLst>
            <a:outerShdw blurRad="228600" dist="76200" dir="5400000" algn="bl" rotWithShape="0">
              <a:srgbClr val="0A2647">
                <a:alpha val="10000"/>
              </a:srgbClr>
            </a:outerShdw>
          </a:effectLst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1869" y="2560320"/>
            <a:ext cx="566928" cy="566928"/>
          </a:xfrm>
          <a:prstGeom prst="rect">
            <a:avLst/>
          </a:prstGeom>
        </p:spPr>
      </p:pic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9965" y="2560320"/>
            <a:ext cx="566928" cy="566928"/>
          </a:xfrm>
          <a:prstGeom prst="rect">
            <a:avLst/>
          </a:prstGeom>
        </p:spPr>
      </p:pic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8061" y="2560320"/>
            <a:ext cx="566928" cy="56692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97280" y="3429000"/>
            <a:ext cx="2692298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0A4D8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 in 3</a:t>
            </a:r>
            <a:endParaRPr lang="en-US" sz="4800" b="1" dirty="0">
              <a:solidFill>
                <a:srgbClr val="0A4D8C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12" name="Text 7"/>
          <p:cNvSpPr/>
          <p:nvPr/>
        </p:nvSpPr>
        <p:spPr>
          <a:xfrm>
            <a:off x="990600" y="4206240"/>
            <a:ext cx="2888615" cy="100457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ar-EG" altLang="en-US" sz="1400" dirty="0">
                <a:solidFill>
                  <a:srgbClr val="5B7A9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33% </a:t>
            </a:r>
            <a:r>
              <a:rPr lang="en-US" sz="1400" dirty="0">
                <a:solidFill>
                  <a:srgbClr val="5B7A9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global deaths is caused by cardiovascular disease</a:t>
            </a:r>
            <a:r>
              <a:rPr lang="ar-EG" altLang="en-US" sz="1400" dirty="0">
                <a:solidFill>
                  <a:srgbClr val="5B7A9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r>
              <a:rPr lang="en-US" altLang="en-US" sz="1400" dirty="0">
                <a:solidFill>
                  <a:srgbClr val="5B7A9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which equal to 18 million people </a:t>
            </a:r>
            <a:endParaRPr lang="en-US" altLang="en-US" sz="1400" dirty="0">
              <a:solidFill>
                <a:srgbClr val="5B7A94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3" name="Text 8"/>
          <p:cNvSpPr/>
          <p:nvPr/>
        </p:nvSpPr>
        <p:spPr>
          <a:xfrm>
            <a:off x="1097280" y="5806440"/>
            <a:ext cx="269229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9FC3D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Placeholder statistic — verify with WHO source</a:t>
            </a:r>
            <a:endParaRPr lang="en-US" sz="9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9696" y="2560320"/>
            <a:ext cx="384048" cy="384048"/>
          </a:xfrm>
          <a:prstGeom prst="rect">
            <a:avLst/>
          </a:prstGeom>
        </p:spPr>
      </p:pic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1760" y="2560320"/>
            <a:ext cx="384048" cy="384048"/>
          </a:xfrm>
          <a:prstGeom prst="rect">
            <a:avLst/>
          </a:prstGeom>
        </p:spPr>
      </p:pic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3824" y="2560320"/>
            <a:ext cx="384048" cy="384048"/>
          </a:xfrm>
          <a:prstGeom prst="rect">
            <a:avLst/>
          </a:prstGeom>
        </p:spPr>
      </p:pic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5888" y="2560320"/>
            <a:ext cx="384048" cy="384048"/>
          </a:xfrm>
          <a:prstGeom prst="rect">
            <a:avLst/>
          </a:prstGeom>
        </p:spPr>
      </p:pic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7952" y="2560320"/>
            <a:ext cx="384048" cy="384048"/>
          </a:xfrm>
          <a:prstGeom prst="rect">
            <a:avLst/>
          </a:prstGeom>
        </p:spPr>
      </p:pic>
      <p:pic>
        <p:nvPicPr>
          <p:cNvPr id="19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9696" y="3072384"/>
            <a:ext cx="384048" cy="384048"/>
          </a:xfrm>
          <a:prstGeom prst="rect">
            <a:avLst/>
          </a:prstGeom>
        </p:spPr>
      </p:pic>
      <p:pic>
        <p:nvPicPr>
          <p:cNvPr id="20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1760" y="3072384"/>
            <a:ext cx="384048" cy="384048"/>
          </a:xfrm>
          <a:prstGeom prst="rect">
            <a:avLst/>
          </a:prstGeom>
        </p:spPr>
      </p:pic>
      <p:pic>
        <p:nvPicPr>
          <p:cNvPr id="21" name="Image 1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3824" y="3072384"/>
            <a:ext cx="384048" cy="384048"/>
          </a:xfrm>
          <a:prstGeom prst="rect">
            <a:avLst/>
          </a:prstGeom>
        </p:spPr>
      </p:pic>
      <p:pic>
        <p:nvPicPr>
          <p:cNvPr id="22" name="Image 1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5888" y="3072384"/>
            <a:ext cx="384048" cy="384048"/>
          </a:xfrm>
          <a:prstGeom prst="rect">
            <a:avLst/>
          </a:prstGeom>
        </p:spPr>
      </p:pic>
      <p:pic>
        <p:nvPicPr>
          <p:cNvPr id="23" name="Image 1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27952" y="3072384"/>
            <a:ext cx="384048" cy="384048"/>
          </a:xfrm>
          <a:prstGeom prst="rect">
            <a:avLst/>
          </a:prstGeom>
        </p:spPr>
      </p:pic>
      <p:sp>
        <p:nvSpPr>
          <p:cNvPr id="24" name="Text 9"/>
          <p:cNvSpPr/>
          <p:nvPr/>
        </p:nvSpPr>
        <p:spPr>
          <a:xfrm>
            <a:off x="4749698" y="3611880"/>
            <a:ext cx="2692298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A4D8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80%</a:t>
            </a:r>
            <a:endParaRPr lang="en-US" sz="4000" dirty="0"/>
          </a:p>
        </p:txBody>
      </p:sp>
      <p:sp>
        <p:nvSpPr>
          <p:cNvPr id="25" name="Text 10"/>
          <p:cNvSpPr/>
          <p:nvPr/>
        </p:nvSpPr>
        <p:spPr>
          <a:xfrm>
            <a:off x="4795418" y="4389120"/>
            <a:ext cx="2600858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dirty="0">
                <a:solidFill>
                  <a:srgbClr val="5B7A9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of premature heart attacks &amp; strokes are preventable</a:t>
            </a:r>
            <a:endParaRPr lang="en-US" dirty="0">
              <a:solidFill>
                <a:srgbClr val="5B7A94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6" name="Text 11"/>
          <p:cNvSpPr/>
          <p:nvPr/>
        </p:nvSpPr>
        <p:spPr>
          <a:xfrm>
            <a:off x="4749698" y="5806440"/>
            <a:ext cx="269229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9FC3D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Placeholder statistic — verify with WHO source</a:t>
            </a:r>
            <a:endParaRPr lang="en-US" sz="950" dirty="0"/>
          </a:p>
        </p:txBody>
      </p:sp>
      <p:pic>
        <p:nvPicPr>
          <p:cNvPr id="27" name="Image 1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12658" y="2560320"/>
            <a:ext cx="457200" cy="457200"/>
          </a:xfrm>
          <a:prstGeom prst="rect">
            <a:avLst/>
          </a:prstGeom>
        </p:spPr>
      </p:pic>
      <p:pic>
        <p:nvPicPr>
          <p:cNvPr id="28" name="Image 1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16162" y="2560320"/>
            <a:ext cx="457200" cy="457200"/>
          </a:xfrm>
          <a:prstGeom prst="rect">
            <a:avLst/>
          </a:prstGeom>
        </p:spPr>
      </p:pic>
      <p:pic>
        <p:nvPicPr>
          <p:cNvPr id="29" name="Image 1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19666" y="2560320"/>
            <a:ext cx="457200" cy="457200"/>
          </a:xfrm>
          <a:prstGeom prst="rect">
            <a:avLst/>
          </a:prstGeom>
        </p:spPr>
      </p:pic>
      <p:pic>
        <p:nvPicPr>
          <p:cNvPr id="30" name="Image 1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23170" y="2560320"/>
            <a:ext cx="457200" cy="457200"/>
          </a:xfrm>
          <a:prstGeom prst="rect">
            <a:avLst/>
          </a:prstGeom>
        </p:spPr>
      </p:pic>
      <p:pic>
        <p:nvPicPr>
          <p:cNvPr id="31" name="Image 1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26674" y="2560320"/>
            <a:ext cx="457200" cy="457200"/>
          </a:xfrm>
          <a:prstGeom prst="rect">
            <a:avLst/>
          </a:prstGeom>
        </p:spPr>
      </p:pic>
      <p:sp>
        <p:nvSpPr>
          <p:cNvPr id="32" name="Text 12"/>
          <p:cNvSpPr/>
          <p:nvPr/>
        </p:nvSpPr>
        <p:spPr>
          <a:xfrm>
            <a:off x="8402117" y="3429000"/>
            <a:ext cx="2692298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A4D8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75%</a:t>
            </a:r>
            <a:endParaRPr lang="en-US" sz="4000" dirty="0"/>
          </a:p>
        </p:txBody>
      </p:sp>
      <p:sp>
        <p:nvSpPr>
          <p:cNvPr id="33" name="Text 13"/>
          <p:cNvSpPr/>
          <p:nvPr/>
        </p:nvSpPr>
        <p:spPr>
          <a:xfrm>
            <a:off x="8462442" y="4387850"/>
            <a:ext cx="2600858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4D4D4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75% of CVD deaths occur in low-to-middle income countries due to late diagnosis and prohibitive diagnostic costs.</a:t>
            </a:r>
            <a:endParaRPr lang="en-US" sz="1500" dirty="0"/>
          </a:p>
        </p:txBody>
      </p:sp>
      <p:sp>
        <p:nvSpPr>
          <p:cNvPr id="34" name="Text 14"/>
          <p:cNvSpPr/>
          <p:nvPr/>
        </p:nvSpPr>
        <p:spPr>
          <a:xfrm>
            <a:off x="8402117" y="5806440"/>
            <a:ext cx="269229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9FC3D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Placeholder statistic — replace before final submission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ages/pulse_light.png"/>
          <p:cNvPicPr>
            <a:picLocks noChangeAspect="1"/>
          </p:cNvPicPr>
          <p:nvPr/>
        </p:nvPicPr>
        <p:blipFill>
          <a:blip r:embed="rId2">
            <a:alphaModFix amt="75000"/>
          </a:blip>
          <a:stretch>
            <a:fillRect/>
          </a:stretch>
        </p:blipFill>
        <p:spPr>
          <a:xfrm>
            <a:off x="3383280" y="320040"/>
            <a:ext cx="5486400" cy="7772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820" y="777240"/>
            <a:ext cx="12191695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kern="0" spc="200" dirty="0">
                <a:solidFill>
                  <a:srgbClr val="12B8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QUESTION THAT INSPIRED US</a:t>
            </a:r>
            <a:endParaRPr lang="en-US" sz="4000" b="1" kern="0" spc="200" dirty="0">
              <a:solidFill>
                <a:srgbClr val="12B8A8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4" name="Text 1"/>
          <p:cNvSpPr/>
          <p:nvPr/>
        </p:nvSpPr>
        <p:spPr>
          <a:xfrm>
            <a:off x="1280160" y="1188720"/>
            <a:ext cx="9631375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What if we could hear a heart’s warning signs before it becomes an emergency?</a:t>
            </a:r>
            <a:endParaRPr lang="en-US" sz="3000" dirty="0"/>
          </a:p>
        </p:txBody>
      </p:sp>
      <p:grpSp>
        <p:nvGrpSpPr>
          <p:cNvPr id="17" name="Group 16"/>
          <p:cNvGrpSpPr/>
          <p:nvPr/>
        </p:nvGrpSpPr>
        <p:grpSpPr>
          <a:xfrm>
            <a:off x="3360420" y="3063240"/>
            <a:ext cx="5467985" cy="960120"/>
            <a:chOff x="5292" y="4824"/>
            <a:chExt cx="8611" cy="1512"/>
          </a:xfrm>
        </p:grpSpPr>
        <p:sp>
          <p:nvSpPr>
            <p:cNvPr id="5" name="Shape 2"/>
            <p:cNvSpPr/>
            <p:nvPr/>
          </p:nvSpPr>
          <p:spPr>
            <a:xfrm>
              <a:off x="6804" y="5580"/>
              <a:ext cx="5587" cy="0"/>
            </a:xfrm>
            <a:prstGeom prst="line">
              <a:avLst/>
            </a:prstGeom>
            <a:noFill/>
            <a:ln w="19050">
              <a:solidFill>
                <a:srgbClr val="6FD8CB"/>
              </a:solidFill>
              <a:prstDash val="dash"/>
            </a:ln>
          </p:spPr>
        </p:sp>
        <p:sp>
          <p:nvSpPr>
            <p:cNvPr id="6" name="Shape 3"/>
            <p:cNvSpPr/>
            <p:nvPr/>
          </p:nvSpPr>
          <p:spPr>
            <a:xfrm>
              <a:off x="5292" y="4824"/>
              <a:ext cx="1512" cy="1512"/>
            </a:xfrm>
            <a:prstGeom prst="ellipse">
              <a:avLst/>
            </a:prstGeom>
            <a:solidFill>
              <a:srgbClr val="0F3D63"/>
            </a:solidFill>
            <a:ln w="15875">
              <a:solidFill>
                <a:srgbClr val="6FD8CB"/>
              </a:solidFill>
              <a:prstDash val="solid"/>
            </a:ln>
            <a:effectLst>
              <a:outerShdw blurRad="228600" dist="76200" dir="5400000" algn="bl" rotWithShape="0">
                <a:srgbClr val="0A2647">
                  <a:alpha val="10000"/>
                </a:srgbClr>
              </a:outerShdw>
            </a:effectLst>
          </p:spPr>
        </p:sp>
        <p:pic>
          <p:nvPicPr>
            <p:cNvPr id="7" name="Image 1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479" y="5011"/>
              <a:ext cx="1138" cy="1138"/>
            </a:xfrm>
            <a:prstGeom prst="rect">
              <a:avLst/>
            </a:prstGeom>
          </p:spPr>
        </p:pic>
        <p:sp>
          <p:nvSpPr>
            <p:cNvPr id="8" name="Shape 4"/>
            <p:cNvSpPr/>
            <p:nvPr/>
          </p:nvSpPr>
          <p:spPr>
            <a:xfrm>
              <a:off x="8844" y="4824"/>
              <a:ext cx="1512" cy="1512"/>
            </a:xfrm>
            <a:prstGeom prst="ellipse">
              <a:avLst/>
            </a:prstGeom>
            <a:solidFill>
              <a:srgbClr val="0F3D63"/>
            </a:solidFill>
            <a:ln w="15875">
              <a:solidFill>
                <a:srgbClr val="6FD8CB"/>
              </a:solidFill>
              <a:prstDash val="solid"/>
            </a:ln>
            <a:effectLst>
              <a:outerShdw blurRad="228600" dist="76200" dir="5400000" algn="bl" rotWithShape="0">
                <a:srgbClr val="0A2647">
                  <a:alpha val="10000"/>
                </a:srgbClr>
              </a:outerShdw>
            </a:effectLst>
          </p:spPr>
        </p:sp>
        <p:pic>
          <p:nvPicPr>
            <p:cNvPr id="9" name="Image 2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032" y="5011"/>
              <a:ext cx="1138" cy="1138"/>
            </a:xfrm>
            <a:prstGeom prst="rect">
              <a:avLst/>
            </a:prstGeom>
          </p:spPr>
        </p:pic>
        <p:sp>
          <p:nvSpPr>
            <p:cNvPr id="10" name="Shape 5"/>
            <p:cNvSpPr/>
            <p:nvPr/>
          </p:nvSpPr>
          <p:spPr>
            <a:xfrm>
              <a:off x="12391" y="4824"/>
              <a:ext cx="1512" cy="1512"/>
            </a:xfrm>
            <a:prstGeom prst="ellipse">
              <a:avLst/>
            </a:prstGeom>
            <a:solidFill>
              <a:srgbClr val="0F3D63"/>
            </a:solidFill>
            <a:ln w="15875">
              <a:solidFill>
                <a:srgbClr val="6FD8CB"/>
              </a:solidFill>
              <a:prstDash val="solid"/>
            </a:ln>
            <a:effectLst>
              <a:outerShdw blurRad="228600" dist="76200" dir="5400000" algn="bl" rotWithShape="0">
                <a:srgbClr val="0A2647">
                  <a:alpha val="10000"/>
                </a:srgbClr>
              </a:outerShdw>
            </a:effectLst>
          </p:spPr>
        </p:sp>
        <p:pic>
          <p:nvPicPr>
            <p:cNvPr id="11" name="Image 3" descr="preencode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2578" y="5011"/>
              <a:ext cx="1138" cy="1138"/>
            </a:xfrm>
            <a:prstGeom prst="rect">
              <a:avLst/>
            </a:prstGeom>
          </p:spPr>
        </p:pic>
      </p:grpSp>
      <p:sp>
        <p:nvSpPr>
          <p:cNvPr id="12" name="Text 6"/>
          <p:cNvSpPr/>
          <p:nvPr/>
        </p:nvSpPr>
        <p:spPr>
          <a:xfrm>
            <a:off x="2926080" y="416052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FC3D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Person</a:t>
            </a:r>
            <a:endParaRPr lang="en-US" sz="1200" dirty="0"/>
          </a:p>
        </p:txBody>
      </p:sp>
      <p:sp>
        <p:nvSpPr>
          <p:cNvPr id="13" name="Text 7"/>
          <p:cNvSpPr/>
          <p:nvPr/>
        </p:nvSpPr>
        <p:spPr>
          <a:xfrm>
            <a:off x="5181905" y="416052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FC3D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Heart Health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7434072" y="416052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FC3D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Detection</a:t>
            </a:r>
            <a:endParaRPr lang="en-US" sz="1200" dirty="0"/>
          </a:p>
        </p:txBody>
      </p:sp>
      <p:sp>
        <p:nvSpPr>
          <p:cNvPr id="15" name="Shape 9"/>
          <p:cNvSpPr/>
          <p:nvPr/>
        </p:nvSpPr>
        <p:spPr>
          <a:xfrm>
            <a:off x="1280795" y="5074920"/>
            <a:ext cx="9678670" cy="1228090"/>
          </a:xfrm>
          <a:prstGeom prst="roundRect">
            <a:avLst>
              <a:gd name="adj" fmla="val 7407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6FD8CB">
                <a:alpha val="45000"/>
              </a:srgbClr>
            </a:solidFill>
            <a:prstDash val="solid"/>
          </a:ln>
        </p:spPr>
      </p:sp>
      <p:sp>
        <p:nvSpPr>
          <p:cNvPr id="16" name="Text 10"/>
          <p:cNvSpPr/>
          <p:nvPr/>
        </p:nvSpPr>
        <p:spPr>
          <a:xfrm>
            <a:off x="2240280" y="5193792"/>
            <a:ext cx="7711135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We didn't ask how to replace physicians. We asked a simpler question: how can we help more people recognize their cardiovascular risk before it's too late? </a:t>
            </a:r>
            <a:endParaRPr lang="en-US" dirty="0">
              <a:solidFill>
                <a:srgbClr val="FFFFFF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  <a:p>
            <a:pPr marL="0" indent="0" algn="ctr">
              <a:lnSpc>
                <a:spcPct val="12500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That question became the foundation of HeartGuard.</a:t>
            </a:r>
            <a:endParaRPr lang="en-US" dirty="0">
              <a:solidFill>
                <a:srgbClr val="FFFFFF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000">
              <a:schemeClr val="accent1">
                <a:lumMod val="50000"/>
              </a:schemeClr>
            </a:gs>
            <a:gs pos="0">
              <a:schemeClr val="accent1">
                <a:lumMod val="25000"/>
                <a:lumOff val="75000"/>
              </a:schemeClr>
            </a:gs>
            <a:gs pos="49000">
              <a:schemeClr val="accent1">
                <a:lumMod val="85000"/>
              </a:schemeClr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1463040"/>
            <a:ext cx="1219200" cy="1219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600" y="2926080"/>
            <a:ext cx="10972800" cy="975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HEART GUARD</a:t>
            </a:r>
            <a:endParaRPr lang="en-US" sz="7200" dirty="0"/>
          </a:p>
        </p:txBody>
      </p:sp>
      <p:sp>
        <p:nvSpPr>
          <p:cNvPr id="4" name="Text 1"/>
          <p:cNvSpPr/>
          <p:nvPr/>
        </p:nvSpPr>
        <p:spPr>
          <a:xfrm>
            <a:off x="609600" y="3901440"/>
            <a:ext cx="10972800" cy="609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65" dirty="0">
                <a:solidFill>
                  <a:srgbClr val="CDDCF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AI-Powered Heart Disease Prediction &amp; Health Monitoring</a:t>
            </a:r>
            <a:endParaRPr lang="en-US" sz="2665" dirty="0"/>
          </a:p>
        </p:txBody>
      </p:sp>
      <p:sp>
        <p:nvSpPr>
          <p:cNvPr id="5" name="Text 2"/>
          <p:cNvSpPr/>
          <p:nvPr/>
        </p:nvSpPr>
        <p:spPr>
          <a:xfrm>
            <a:off x="609600" y="5120640"/>
            <a:ext cx="10972800" cy="487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65" dirty="0"/>
          </a:p>
        </p:txBody>
      </p:sp>
      <p:sp>
        <p:nvSpPr>
          <p:cNvPr id="6" name="Text 3"/>
          <p:cNvSpPr/>
          <p:nvPr/>
        </p:nvSpPr>
        <p:spPr>
          <a:xfrm>
            <a:off x="609600" y="5730240"/>
            <a:ext cx="10972800" cy="487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65" dirty="0"/>
          </a:p>
        </p:txBody>
      </p:sp>
      <p:sp>
        <p:nvSpPr>
          <p:cNvPr id="7" name="Text Box 6"/>
          <p:cNvSpPr txBox="1"/>
          <p:nvPr/>
        </p:nvSpPr>
        <p:spPr>
          <a:xfrm>
            <a:off x="6874087" y="5922433"/>
            <a:ext cx="4064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2B8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 OBJECTIVES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822960" y="77724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9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What HeartGuard Sets Out to Achieve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737360"/>
            <a:ext cx="2396414" cy="4480560"/>
          </a:xfrm>
          <a:prstGeom prst="roundRect">
            <a:avLst>
              <a:gd name="adj" fmla="val 5342"/>
            </a:avLst>
          </a:prstGeom>
          <a:solidFill>
            <a:srgbClr val="FFFFFF"/>
          </a:solidFill>
          <a:effectLst>
            <a:outerShdw blurRad="228600" dist="76200" dir="5400000" algn="bl" rotWithShape="0">
              <a:srgbClr val="0A2647">
                <a:alpha val="10000"/>
              </a:srgbClr>
            </a:outerShdw>
          </a:effectLst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2547" y="2103120"/>
            <a:ext cx="777240" cy="777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1560" y="3063240"/>
            <a:ext cx="1939214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329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Screening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115568" y="3566160"/>
            <a:ext cx="1811198" cy="23774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28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b="1" dirty="0">
                <a:solidFill>
                  <a:srgbClr val="5B7A9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HeartGuard is an early screening application — not a replacement for physicians.</a:t>
            </a:r>
            <a:endParaRPr lang="en-US" sz="1200" b="1" dirty="0"/>
          </a:p>
          <a:p>
            <a:pPr marL="342900" indent="-342900" algn="l">
              <a:lnSpc>
                <a:spcPct val="128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b="1" dirty="0">
                <a:solidFill>
                  <a:srgbClr val="5B7A9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 don’t replace doctors; we help more people reach them at the right time.</a:t>
            </a:r>
            <a:endParaRPr lang="en-US" sz="1200" b="1" dirty="0">
              <a:solidFill>
                <a:srgbClr val="5B7A94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3539414" y="1737360"/>
            <a:ext cx="2396414" cy="4480560"/>
          </a:xfrm>
          <a:prstGeom prst="roundRect">
            <a:avLst>
              <a:gd name="adj" fmla="val 5342"/>
            </a:avLst>
          </a:prstGeom>
          <a:solidFill>
            <a:srgbClr val="FFFFFF"/>
          </a:solidFill>
          <a:effectLst>
            <a:outerShdw blurRad="228600" dist="76200" dir="5400000" algn="bl" rotWithShape="0">
              <a:srgbClr val="0A2647">
                <a:alpha val="10000"/>
              </a:srgbClr>
            </a:outerShdw>
          </a:effectLst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9001" y="2103120"/>
            <a:ext cx="777240" cy="7772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768014" y="3063240"/>
            <a:ext cx="1939214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329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Humanitarian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3832022" y="3566160"/>
            <a:ext cx="1811198" cy="23774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5B7A9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Reducing sudden cardiac mortality through early detection and timely intervention, saving lives globally.</a:t>
            </a:r>
            <a:endParaRPr lang="en-US" sz="1400" b="1" dirty="0">
              <a:solidFill>
                <a:srgbClr val="5B7A94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6255868" y="1737360"/>
            <a:ext cx="2396414" cy="4480560"/>
          </a:xfrm>
          <a:prstGeom prst="roundRect">
            <a:avLst>
              <a:gd name="adj" fmla="val 5342"/>
            </a:avLst>
          </a:prstGeom>
          <a:solidFill>
            <a:srgbClr val="FFFFFF"/>
          </a:solidFill>
          <a:effectLst>
            <a:outerShdw blurRad="228600" dist="76200" dir="5400000" algn="bl" rotWithShape="0">
              <a:srgbClr val="0A2647">
                <a:alpha val="10000"/>
              </a:srgbClr>
            </a:outerShdw>
          </a:effectLst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5455" y="2103120"/>
            <a:ext cx="777240" cy="7772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484468" y="3063240"/>
            <a:ext cx="1939214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329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Economic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6548476" y="3566160"/>
            <a:ext cx="1811198" cy="23774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5B7A9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Minimizing expensive diagnostic costs in low-income areas by providing accessible, free screening tools.</a:t>
            </a:r>
            <a:endParaRPr lang="en-US" sz="1400" b="1" dirty="0">
              <a:solidFill>
                <a:srgbClr val="5B7A94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6" name="Shape 11"/>
          <p:cNvSpPr/>
          <p:nvPr/>
        </p:nvSpPr>
        <p:spPr>
          <a:xfrm>
            <a:off x="8972321" y="1737360"/>
            <a:ext cx="2396414" cy="4480560"/>
          </a:xfrm>
          <a:prstGeom prst="roundRect">
            <a:avLst>
              <a:gd name="adj" fmla="val 5342"/>
            </a:avLst>
          </a:prstGeom>
          <a:solidFill>
            <a:srgbClr val="FFFFFF"/>
          </a:solidFill>
          <a:effectLst>
            <a:outerShdw blurRad="228600" dist="76200" dir="5400000" algn="bl" rotWithShape="0">
              <a:srgbClr val="0A2647">
                <a:alpha val="10000"/>
              </a:srgbClr>
            </a:outerShdw>
          </a:effectLst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81908" y="2103120"/>
            <a:ext cx="777240" cy="77724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200921" y="3063240"/>
            <a:ext cx="1939214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329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Educational</a:t>
            </a:r>
            <a:endParaRPr lang="en-US" sz="1700" dirty="0"/>
          </a:p>
        </p:txBody>
      </p:sp>
      <p:sp>
        <p:nvSpPr>
          <p:cNvPr id="19" name="Text 13"/>
          <p:cNvSpPr/>
          <p:nvPr/>
        </p:nvSpPr>
        <p:spPr>
          <a:xfrm>
            <a:off x="9264929" y="3566160"/>
            <a:ext cx="1811198" cy="23774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8000"/>
              </a:lnSpc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5B7A9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Raising public awareness about critical yet overlooked risk factors such as smoking and obesity.</a:t>
            </a:r>
            <a:endParaRPr lang="en-US" sz="1200" b="1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87680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335" b="1" dirty="0">
                <a:solidFill>
                  <a:srgbClr val="00081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Core Features</a:t>
            </a:r>
            <a:endParaRPr lang="en-US" sz="5335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584960"/>
            <a:ext cx="426720" cy="4267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41120" y="1524000"/>
            <a:ext cx="1024128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342C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Prediction Model </a:t>
            </a:r>
            <a:endParaRPr lang="en-US" sz="2400" b="1" dirty="0">
              <a:solidFill>
                <a:srgbClr val="0342C9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 algn="l">
              <a:buNone/>
            </a:pPr>
            <a:r>
              <a:rPr lang="en-US" sz="1865" dirty="0">
                <a:solidFill>
                  <a:srgbClr val="4D4D4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Real-time cardiovascular risk probability calculation based on 22 validated health parameters including age, cholesterol, blood pressure, and lifestyle factors.</a:t>
            </a:r>
            <a:endParaRPr lang="en-US" sz="1865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499360"/>
            <a:ext cx="426720" cy="4267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341120" y="2438400"/>
            <a:ext cx="1024128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342C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Longitudinal Progress Dashboard</a:t>
            </a:r>
            <a:endParaRPr lang="en-US" sz="1865" dirty="0"/>
          </a:p>
          <a:p>
            <a:pPr marL="0" indent="0" algn="l">
              <a:buNone/>
            </a:pPr>
            <a:r>
              <a:rPr lang="en-US" sz="1865" dirty="0">
                <a:solidFill>
                  <a:srgbClr val="4D4D4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Visual health trend tracking over time through interactive line charts, enabling users to monitor improvements or deterioration in key health metrics.</a:t>
            </a:r>
            <a:endParaRPr lang="en-US" sz="1865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413760"/>
            <a:ext cx="426720" cy="42672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341120" y="3352800"/>
            <a:ext cx="1024128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342C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Medical Chatbot</a:t>
            </a:r>
            <a:endParaRPr lang="en-US" sz="1865" dirty="0"/>
          </a:p>
          <a:p>
            <a:pPr marL="0" indent="0" algn="l">
              <a:buNone/>
            </a:pPr>
            <a:r>
              <a:rPr lang="en-US" sz="1865" dirty="0">
                <a:solidFill>
                  <a:srgbClr val="4D4D4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Natural Language Processing-driven conversational assistant providing symptom analysis and WHO-based health guidance available 24/7.</a:t>
            </a:r>
            <a:endParaRPr lang="en-US" sz="1865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328160"/>
            <a:ext cx="426720" cy="42672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341120" y="4267200"/>
            <a:ext cx="1024128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342C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Personalized Health Advisor</a:t>
            </a:r>
            <a:endParaRPr lang="en-US" sz="1865" dirty="0"/>
          </a:p>
          <a:p>
            <a:pPr marL="0" indent="0" algn="l">
              <a:buNone/>
            </a:pPr>
            <a:r>
              <a:rPr lang="en-US" sz="1865" dirty="0">
                <a:solidFill>
                  <a:srgbClr val="4D4D4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Targeted content recommendations based on feature importance analysis—prioritizing critical interventions like smoking cessation if it's identified as the highest risk factor.</a:t>
            </a:r>
            <a:endParaRPr lang="en-US" sz="1865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5242560"/>
            <a:ext cx="426720" cy="42672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1341120" y="5181600"/>
            <a:ext cx="1024128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342C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Smart Referral System</a:t>
            </a:r>
            <a:endParaRPr lang="en-US" sz="1865" dirty="0"/>
          </a:p>
          <a:p>
            <a:pPr marL="0" indent="0" algn="l">
              <a:buNone/>
            </a:pPr>
            <a:r>
              <a:rPr lang="en-US" sz="1865" dirty="0">
                <a:solidFill>
                  <a:srgbClr val="4D4D4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GPS-based cardiologist recommendations matching patient location, risk level, and accessibility requirements for seamless care coordination.</a:t>
            </a:r>
            <a:endParaRPr lang="en-US" sz="186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ages/pulse_light.png"/>
          <p:cNvPicPr>
            <a:picLocks noChangeAspect="1"/>
          </p:cNvPicPr>
          <p:nvPr/>
        </p:nvPicPr>
        <p:blipFill>
          <a:blip r:embed="rId2">
            <a:alphaModFix amt="90000"/>
          </a:blip>
          <a:srcRect l="5833" b="-10922"/>
          <a:stretch>
            <a:fillRect/>
          </a:stretch>
        </p:blipFill>
        <p:spPr>
          <a:xfrm>
            <a:off x="6629400" y="4160520"/>
            <a:ext cx="5166360" cy="111569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1051560"/>
            <a:ext cx="8686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2B8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GRADUATION PROJECT  ·  AI-POWERED CARDIAC SCREENING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0" y="4160520"/>
            <a:ext cx="7772400" cy="23774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Design Identity &amp; UI Strategy</a:t>
            </a:r>
            <a:endParaRPr lang="ar-EG" altLang="en-US" sz="4000" b="1" dirty="0">
              <a:solidFill>
                <a:srgbClr val="FFFFFF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  <a:sym typeface="+mn-ea"/>
            </a:endParaRPr>
          </a:p>
        </p:txBody>
      </p:sp>
      <p:sp>
        <p:nvSpPr>
          <p:cNvPr id="5" name="Text 2"/>
          <p:cNvSpPr/>
          <p:nvPr/>
        </p:nvSpPr>
        <p:spPr>
          <a:xfrm>
            <a:off x="822960" y="3977640"/>
            <a:ext cx="70408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endParaRPr lang="ar-EG" altLang="en-US" sz="4000" b="1" dirty="0">
              <a:solidFill>
                <a:srgbClr val="FFFFFF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  <a:sym typeface="+mn-ea"/>
            </a:endParaRPr>
          </a:p>
        </p:txBody>
      </p:sp>
      <p:sp>
        <p:nvSpPr>
          <p:cNvPr id="6" name="Shape 3"/>
          <p:cNvSpPr/>
          <p:nvPr/>
        </p:nvSpPr>
        <p:spPr>
          <a:xfrm>
            <a:off x="822960" y="5074920"/>
            <a:ext cx="82296" cy="82296"/>
          </a:xfrm>
          <a:prstGeom prst="ellipse">
            <a:avLst/>
          </a:prstGeom>
          <a:solidFill>
            <a:srgbClr val="12B8A8"/>
          </a:solidFill>
        </p:spPr>
      </p:sp>
      <p:sp>
        <p:nvSpPr>
          <p:cNvPr id="7" name="Text 4"/>
          <p:cNvSpPr/>
          <p:nvPr/>
        </p:nvSpPr>
        <p:spPr>
          <a:xfrm>
            <a:off x="1024128" y="4956048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C3D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Presented as part of a graduating engineering cohort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092440" y="1234440"/>
            <a:ext cx="3291840" cy="3291840"/>
          </a:xfrm>
          <a:prstGeom prst="ellipse">
            <a:avLst/>
          </a:prstGeom>
          <a:solidFill>
            <a:srgbClr val="13527A">
              <a:alpha val="65000"/>
            </a:srgbClr>
          </a:solidFill>
        </p:spPr>
      </p:sp>
      <p:sp>
        <p:nvSpPr>
          <p:cNvPr id="9" name="Shape 6"/>
          <p:cNvSpPr/>
          <p:nvPr/>
        </p:nvSpPr>
        <p:spPr>
          <a:xfrm>
            <a:off x="8549640" y="1691640"/>
            <a:ext cx="2377440" cy="2377440"/>
          </a:xfrm>
          <a:prstGeom prst="ellipse">
            <a:avLst/>
          </a:prstGeom>
          <a:solidFill>
            <a:srgbClr val="0F3D63"/>
          </a:solidFill>
          <a:ln w="15875">
            <a:solidFill>
              <a:srgbClr val="6FD8CB"/>
            </a:solidFill>
            <a:prstDash val="solid"/>
          </a:ln>
          <a:effectLst>
            <a:outerShdw blurRad="228600" dist="76200" dir="5400000" algn="bl" rotWithShape="0">
              <a:srgbClr val="0A2647">
                <a:alpha val="10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0" y="2057400"/>
            <a:ext cx="1645920" cy="16459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2B88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PROCESS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32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The Design Process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789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707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five-phase process, each stage grounded in the one before it — nothing here was designed in isolation.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193292" y="2377440"/>
            <a:ext cx="731520" cy="731520"/>
          </a:xfrm>
          <a:prstGeom prst="ellipse">
            <a:avLst/>
          </a:prstGeom>
          <a:solidFill>
            <a:srgbClr val="2F6FED"/>
          </a:solidFill>
        </p:spPr>
      </p:sp>
      <p:sp>
        <p:nvSpPr>
          <p:cNvPr id="6" name="Text 4"/>
          <p:cNvSpPr/>
          <p:nvPr/>
        </p:nvSpPr>
        <p:spPr>
          <a:xfrm>
            <a:off x="1193292" y="2377440"/>
            <a:ext cx="7315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53212" y="3337560"/>
            <a:ext cx="20116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12213E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90372" y="352044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Research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90372" y="3886200"/>
            <a:ext cx="1737360" cy="1280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707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Competitor audits + patient/clinician needs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64892" y="2743200"/>
            <a:ext cx="256032" cy="0"/>
          </a:xfrm>
          <a:prstGeom prst="line">
            <a:avLst/>
          </a:prstGeom>
          <a:noFill/>
          <a:ln w="19050">
            <a:solidFill>
              <a:srgbClr val="5C7079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3461004" y="2377440"/>
            <a:ext cx="731520" cy="731520"/>
          </a:xfrm>
          <a:prstGeom prst="ellipse">
            <a:avLst/>
          </a:prstGeom>
          <a:solidFill>
            <a:srgbClr val="2F6FED"/>
          </a:solidFill>
        </p:spPr>
      </p:sp>
      <p:sp>
        <p:nvSpPr>
          <p:cNvPr id="12" name="Text 10"/>
          <p:cNvSpPr/>
          <p:nvPr/>
        </p:nvSpPr>
        <p:spPr>
          <a:xfrm>
            <a:off x="3461004" y="2377440"/>
            <a:ext cx="7315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2820924" y="3337560"/>
            <a:ext cx="20116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12213E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958084" y="352044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Define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958084" y="3886200"/>
            <a:ext cx="1737360" cy="1280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707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 flows mapping the full patient journey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32604" y="2743200"/>
            <a:ext cx="256032" cy="0"/>
          </a:xfrm>
          <a:prstGeom prst="line">
            <a:avLst/>
          </a:prstGeom>
          <a:noFill/>
          <a:ln w="19050">
            <a:solidFill>
              <a:srgbClr val="5C7079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5728716" y="2377440"/>
            <a:ext cx="731520" cy="731520"/>
          </a:xfrm>
          <a:prstGeom prst="ellipse">
            <a:avLst/>
          </a:prstGeom>
          <a:solidFill>
            <a:srgbClr val="2F6FED"/>
          </a:solidFill>
        </p:spPr>
      </p:sp>
      <p:sp>
        <p:nvSpPr>
          <p:cNvPr id="18" name="Text 16"/>
          <p:cNvSpPr/>
          <p:nvPr/>
        </p:nvSpPr>
        <p:spPr>
          <a:xfrm>
            <a:off x="5728716" y="2377440"/>
            <a:ext cx="7315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03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088636" y="3337560"/>
            <a:ext cx="20116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12213E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225796" y="352044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Wireframe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225796" y="3886200"/>
            <a:ext cx="1737360" cy="1280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707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Low-fidelity structure, before any visual style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100316" y="2743200"/>
            <a:ext cx="256032" cy="0"/>
          </a:xfrm>
          <a:prstGeom prst="line">
            <a:avLst/>
          </a:prstGeom>
          <a:noFill/>
          <a:ln w="19050">
            <a:solidFill>
              <a:srgbClr val="5C7079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7996428" y="2377440"/>
            <a:ext cx="731520" cy="731520"/>
          </a:xfrm>
          <a:prstGeom prst="ellipse">
            <a:avLst/>
          </a:prstGeom>
          <a:solidFill>
            <a:srgbClr val="2F6FED"/>
          </a:solidFill>
        </p:spPr>
      </p:sp>
      <p:sp>
        <p:nvSpPr>
          <p:cNvPr id="24" name="Text 22"/>
          <p:cNvSpPr/>
          <p:nvPr/>
        </p:nvSpPr>
        <p:spPr>
          <a:xfrm>
            <a:off x="7996428" y="2377440"/>
            <a:ext cx="7315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04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7356348" y="3337560"/>
            <a:ext cx="20116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12213E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493508" y="352044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UI Kit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493508" y="3886200"/>
            <a:ext cx="1737360" cy="1280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707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Colour, type, and component system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9368028" y="2743200"/>
            <a:ext cx="256032" cy="0"/>
          </a:xfrm>
          <a:prstGeom prst="line">
            <a:avLst/>
          </a:prstGeom>
          <a:noFill/>
          <a:ln w="19050">
            <a:solidFill>
              <a:srgbClr val="5C7079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10264140" y="2377440"/>
            <a:ext cx="731520" cy="731520"/>
          </a:xfrm>
          <a:prstGeom prst="ellipse">
            <a:avLst/>
          </a:prstGeom>
          <a:solidFill>
            <a:srgbClr val="E63946"/>
          </a:solidFill>
        </p:spPr>
      </p:sp>
      <p:sp>
        <p:nvSpPr>
          <p:cNvPr id="30" name="Text 28"/>
          <p:cNvSpPr/>
          <p:nvPr/>
        </p:nvSpPr>
        <p:spPr>
          <a:xfrm>
            <a:off x="10264140" y="2377440"/>
            <a:ext cx="7315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05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9624060" y="3337560"/>
            <a:ext cx="20116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12213E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9761220" y="352044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Design &amp; Test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9761220" y="3886200"/>
            <a:ext cx="1737360" cy="1280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707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High-fidelity screens, prototyped and tested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07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2B88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RESEARCH · 1 OF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32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Competitor Research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707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Three representative apps in the cardiovascular / general-health-tracking space were reviewed against the same criteria.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3611880" cy="3931920"/>
          </a:xfrm>
          <a:prstGeom prst="roundRect">
            <a:avLst>
              <a:gd name="adj" fmla="val 2278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12213E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212848"/>
            <a:ext cx="31546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2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General Wellness Tracker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77240" y="2697480"/>
            <a:ext cx="31546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C707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Broad fitness/health app with a cardio module bolted on.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3337560"/>
            <a:ext cx="3154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2B88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3611880"/>
            <a:ext cx="3154680" cy="8686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150" dirty="0">
                <a:solidFill>
                  <a:srgbClr val="162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Polished, mainstream UI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150" dirty="0">
                <a:solidFill>
                  <a:srgbClr val="162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Strong step/activity tracking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77240" y="4526280"/>
            <a:ext cx="3154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6394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4800600"/>
            <a:ext cx="3154680" cy="10058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✗"/>
            </a:pPr>
            <a:r>
              <a:rPr lang="en-US" sz="1150" dirty="0">
                <a:solidFill>
                  <a:srgbClr val="162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clinical risk scoring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✗"/>
            </a:pPr>
            <a:r>
              <a:rPr lang="en-US" sz="1150" dirty="0">
                <a:solidFill>
                  <a:srgbClr val="162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path to a real referral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89120" y="2011680"/>
            <a:ext cx="3611880" cy="3931920"/>
          </a:xfrm>
          <a:prstGeom prst="roundRect">
            <a:avLst>
              <a:gd name="adj" fmla="val 2278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12213E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17720" y="2212848"/>
            <a:ext cx="31546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2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Cardiology Clinic Portal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4617720" y="2697480"/>
            <a:ext cx="31546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C707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Hospital-issued portal for existing cardiology patients.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17720" y="3337560"/>
            <a:ext cx="3154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2B88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617720" y="3611880"/>
            <a:ext cx="3154680" cy="8686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150" dirty="0">
                <a:solidFill>
                  <a:srgbClr val="162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Directly tied to real doctors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150" dirty="0">
                <a:solidFill>
                  <a:srgbClr val="162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Trusted, clinical tone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617720" y="4526280"/>
            <a:ext cx="3154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6394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17720" y="4800600"/>
            <a:ext cx="3154680" cy="10058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✗"/>
            </a:pPr>
            <a:r>
              <a:rPr lang="en-US" sz="1150" dirty="0">
                <a:solidFill>
                  <a:srgbClr val="162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Dated, form-heavy UI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✗"/>
            </a:pPr>
            <a:r>
              <a:rPr lang="en-US" sz="1150" dirty="0">
                <a:solidFill>
                  <a:srgbClr val="162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Only usable if already a patient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229600" y="2011680"/>
            <a:ext cx="3611880" cy="3931920"/>
          </a:xfrm>
          <a:prstGeom prst="roundRect">
            <a:avLst>
              <a:gd name="adj" fmla="val 2278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12213E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458200" y="2212848"/>
            <a:ext cx="31546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2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Symptom Checker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8458200" y="2697480"/>
            <a:ext cx="31546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C707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General chatbot triage app, not heart-specific.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458200" y="3337560"/>
            <a:ext cx="3154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2B88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458200" y="3611880"/>
            <a:ext cx="3154680" cy="8686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150" dirty="0">
                <a:solidFill>
                  <a:srgbClr val="162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Conversational, low-friction entry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150" dirty="0">
                <a:solidFill>
                  <a:srgbClr val="162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Available 24/7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458200" y="4526280"/>
            <a:ext cx="3154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E6394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458200" y="4800600"/>
            <a:ext cx="3154680" cy="10058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✗"/>
            </a:pPr>
            <a:r>
              <a:rPr lang="en-US" sz="1150" dirty="0">
                <a:solidFill>
                  <a:srgbClr val="162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Generic, not cardiovascular-specific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✗"/>
            </a:pPr>
            <a:r>
              <a:rPr lang="en-US" sz="1150" dirty="0">
                <a:solidFill>
                  <a:srgbClr val="162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historical trend view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48640" y="6126480"/>
            <a:ext cx="110642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707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Illustrative competitor set based on common patterns in this app category — swap in named competitors and cited sources for a client-facing version.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07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2B88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RESEARCH · 2 OF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32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Gaps → Opportunities for Heart Guard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effectLst>
            <a:outerShdw blurRad="76200" dist="25400" dir="5400000" algn="bl" rotWithShape="0">
              <a:srgbClr val="12213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01952"/>
            <a:ext cx="457200" cy="457200"/>
          </a:xfrm>
          <a:prstGeom prst="ellipse">
            <a:avLst/>
          </a:prstGeom>
          <a:solidFill>
            <a:srgbClr val="FBEAEA"/>
          </a:solidFill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993392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810512"/>
            <a:ext cx="45720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app combined clinical scoring with an easy referral path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035040" y="1965960"/>
            <a:ext cx="365760" cy="365760"/>
          </a:xfrm>
          <a:prstGeom prst="ellipse">
            <a:avLst/>
          </a:prstGeom>
          <a:solidFill>
            <a:srgbClr val="2F6FED"/>
          </a:solidFill>
        </p:spPr>
      </p:sp>
      <p:sp>
        <p:nvSpPr>
          <p:cNvPr id="9" name="Text 6"/>
          <p:cNvSpPr/>
          <p:nvPr/>
        </p:nvSpPr>
        <p:spPr>
          <a:xfrm>
            <a:off x="6035040" y="196596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583680" y="1901952"/>
            <a:ext cx="457200" cy="457200"/>
          </a:xfrm>
          <a:prstGeom prst="ellipse">
            <a:avLst/>
          </a:prstGeom>
          <a:solidFill>
            <a:srgbClr val="E9F8F1"/>
          </a:solidFill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993392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78040" y="1810512"/>
            <a:ext cx="42976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Heart Guard's Result screen pairs a risk score directly with a doctor referral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48640" y="2697480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effectLst>
            <a:outerShdw blurRad="76200" dist="25400" dir="5400000" algn="bl" rotWithShape="0">
              <a:srgbClr val="12213E">
                <a:alpha val="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77240" y="2862072"/>
            <a:ext cx="457200" cy="457200"/>
          </a:xfrm>
          <a:prstGeom prst="ellipse">
            <a:avLst/>
          </a:prstGeom>
          <a:solidFill>
            <a:srgbClr val="FBEAEA"/>
          </a:solidFill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953512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371600" y="2770632"/>
            <a:ext cx="45720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Trend data, when it existed, wasn't compared to clinical guidelines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6035040" y="2926080"/>
            <a:ext cx="365760" cy="365760"/>
          </a:xfrm>
          <a:prstGeom prst="ellipse">
            <a:avLst/>
          </a:prstGeom>
          <a:solidFill>
            <a:srgbClr val="2F6FED"/>
          </a:solidFill>
        </p:spPr>
      </p:sp>
      <p:sp>
        <p:nvSpPr>
          <p:cNvPr id="18" name="Text 13"/>
          <p:cNvSpPr/>
          <p:nvPr/>
        </p:nvSpPr>
        <p:spPr>
          <a:xfrm>
            <a:off x="6035040" y="292608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6583680" y="2862072"/>
            <a:ext cx="457200" cy="457200"/>
          </a:xfrm>
          <a:prstGeom prst="ellipse">
            <a:avLst/>
          </a:prstGeom>
          <a:solidFill>
            <a:srgbClr val="E9F8F1"/>
          </a:solidFill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2953512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178040" y="2770632"/>
            <a:ext cx="42976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Health Overview plots every metric against WHO / clinical reference bands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548640" y="3657600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effectLst>
            <a:outerShdw blurRad="76200" dist="25400" dir="5400000" algn="bl" rotWithShape="0">
              <a:srgbClr val="12213E">
                <a:alpha val="8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777240" y="3822192"/>
            <a:ext cx="457200" cy="457200"/>
          </a:xfrm>
          <a:prstGeom prst="ellipse">
            <a:avLst/>
          </a:prstGeom>
          <a:solidFill>
            <a:srgbClr val="FBEAEA"/>
          </a:solidFill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3913632"/>
            <a:ext cx="274320" cy="27432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371600" y="3730752"/>
            <a:ext cx="45720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Chatbots were generic, not scoped to cardiovascular health</a:t>
            </a:r>
            <a:endParaRPr lang="en-US" sz="1200" dirty="0"/>
          </a:p>
        </p:txBody>
      </p:sp>
      <p:sp>
        <p:nvSpPr>
          <p:cNvPr id="26" name="Shape 19"/>
          <p:cNvSpPr/>
          <p:nvPr/>
        </p:nvSpPr>
        <p:spPr>
          <a:xfrm>
            <a:off x="6035040" y="3886200"/>
            <a:ext cx="365760" cy="365760"/>
          </a:xfrm>
          <a:prstGeom prst="ellipse">
            <a:avLst/>
          </a:prstGeom>
          <a:solidFill>
            <a:srgbClr val="2F6FED"/>
          </a:solidFill>
        </p:spPr>
      </p:sp>
      <p:sp>
        <p:nvSpPr>
          <p:cNvPr id="27" name="Text 20"/>
          <p:cNvSpPr/>
          <p:nvPr/>
        </p:nvSpPr>
        <p:spPr>
          <a:xfrm>
            <a:off x="6035040" y="388620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400" dirty="0"/>
          </a:p>
        </p:txBody>
      </p:sp>
      <p:sp>
        <p:nvSpPr>
          <p:cNvPr id="28" name="Shape 21"/>
          <p:cNvSpPr/>
          <p:nvPr/>
        </p:nvSpPr>
        <p:spPr>
          <a:xfrm>
            <a:off x="6583680" y="3822192"/>
            <a:ext cx="457200" cy="457200"/>
          </a:xfrm>
          <a:prstGeom prst="ellipse">
            <a:avLst/>
          </a:prstGeom>
          <a:solidFill>
            <a:srgbClr val="E9F8F1"/>
          </a:solidFill>
        </p:spPr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3913632"/>
            <a:ext cx="274320" cy="274320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7178040" y="3730752"/>
            <a:ext cx="42976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Heart Guard's assistant is heart-specific, with guided quick-questions</a:t>
            </a:r>
            <a:endParaRPr lang="en-US" sz="1200" dirty="0"/>
          </a:p>
        </p:txBody>
      </p:sp>
      <p:sp>
        <p:nvSpPr>
          <p:cNvPr id="31" name="Shape 23"/>
          <p:cNvSpPr/>
          <p:nvPr/>
        </p:nvSpPr>
        <p:spPr>
          <a:xfrm>
            <a:off x="548640" y="4617720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effectLst>
            <a:outerShdw blurRad="76200" dist="25400" dir="5400000" algn="bl" rotWithShape="0">
              <a:srgbClr val="12213E">
                <a:alpha val="8000"/>
              </a:srgbClr>
            </a:outerShdw>
          </a:effectLst>
        </p:spPr>
      </p:sp>
      <p:sp>
        <p:nvSpPr>
          <p:cNvPr id="32" name="Shape 24"/>
          <p:cNvSpPr/>
          <p:nvPr/>
        </p:nvSpPr>
        <p:spPr>
          <a:xfrm>
            <a:off x="777240" y="4782312"/>
            <a:ext cx="457200" cy="457200"/>
          </a:xfrm>
          <a:prstGeom prst="ellipse">
            <a:avLst/>
          </a:prstGeom>
          <a:solidFill>
            <a:srgbClr val="FBEAEA"/>
          </a:solidFill>
        </p:spPr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4873752"/>
            <a:ext cx="274320" cy="274320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1371600" y="4690872"/>
            <a:ext cx="45720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Clinical portals looked trustworthy but felt cold and form-heavy</a:t>
            </a:r>
            <a:endParaRPr lang="en-US" sz="1200" dirty="0"/>
          </a:p>
        </p:txBody>
      </p:sp>
      <p:sp>
        <p:nvSpPr>
          <p:cNvPr id="35" name="Shape 26"/>
          <p:cNvSpPr/>
          <p:nvPr/>
        </p:nvSpPr>
        <p:spPr>
          <a:xfrm>
            <a:off x="6035040" y="4846320"/>
            <a:ext cx="365760" cy="365760"/>
          </a:xfrm>
          <a:prstGeom prst="ellipse">
            <a:avLst/>
          </a:prstGeom>
          <a:solidFill>
            <a:srgbClr val="2F6FED"/>
          </a:solidFill>
        </p:spPr>
      </p:sp>
      <p:sp>
        <p:nvSpPr>
          <p:cNvPr id="36" name="Text 27"/>
          <p:cNvSpPr/>
          <p:nvPr/>
        </p:nvSpPr>
        <p:spPr>
          <a:xfrm>
            <a:off x="6035040" y="4846320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</a:t>
            </a:r>
            <a:endParaRPr lang="en-US" sz="1400" dirty="0"/>
          </a:p>
        </p:txBody>
      </p:sp>
      <p:sp>
        <p:nvSpPr>
          <p:cNvPr id="37" name="Shape 28"/>
          <p:cNvSpPr/>
          <p:nvPr/>
        </p:nvSpPr>
        <p:spPr>
          <a:xfrm>
            <a:off x="6583680" y="4782312"/>
            <a:ext cx="457200" cy="457200"/>
          </a:xfrm>
          <a:prstGeom prst="ellipse">
            <a:avLst/>
          </a:prstGeom>
          <a:solidFill>
            <a:srgbClr val="E9F8F1"/>
          </a:solidFill>
        </p:spPr>
      </p:sp>
      <p:pic>
        <p:nvPicPr>
          <p:cNvPr id="38" name="Image 7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4873752"/>
            <a:ext cx="274320" cy="274320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7178040" y="4690872"/>
            <a:ext cx="429768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Heart Guard keeps a clinical tone while staying warm and step-by-step</a:t>
            </a:r>
            <a:endParaRPr lang="en-US" sz="1200" dirty="0"/>
          </a:p>
        </p:txBody>
      </p:sp>
      <p:sp>
        <p:nvSpPr>
          <p:cNvPr id="40" name="Text 30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07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2B88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DEFINE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32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User Flow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707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Mapped before a single screen was designed, so every later decision serves a known path through the app.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2103120"/>
            <a:ext cx="1691640" cy="1691640"/>
          </a:xfrm>
          <a:prstGeom prst="ellipse">
            <a:avLst/>
          </a:prstGeom>
          <a:solidFill>
            <a:srgbClr val="2F6FED"/>
          </a:solidFill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0452" y="2564892"/>
            <a:ext cx="676656" cy="6766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3886200"/>
            <a:ext cx="2057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2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Login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514600" y="2948940"/>
            <a:ext cx="365760" cy="0"/>
          </a:xfrm>
          <a:prstGeom prst="line">
            <a:avLst/>
          </a:prstGeom>
          <a:noFill/>
          <a:ln w="25400">
            <a:solidFill>
              <a:srgbClr val="5C707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880360" y="2103120"/>
            <a:ext cx="1691640" cy="1691640"/>
          </a:xfrm>
          <a:prstGeom prst="ellipse">
            <a:avLst/>
          </a:prstGeom>
          <a:solidFill>
            <a:srgbClr val="2F6FED"/>
          </a:solidFill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7852" y="2564892"/>
            <a:ext cx="676656" cy="67665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697480" y="3886200"/>
            <a:ext cx="2057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2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Home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572000" y="2948940"/>
            <a:ext cx="365760" cy="0"/>
          </a:xfrm>
          <a:prstGeom prst="line">
            <a:avLst/>
          </a:prstGeom>
          <a:noFill/>
          <a:ln w="25400">
            <a:solidFill>
              <a:srgbClr val="5C7079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937760" y="2103120"/>
            <a:ext cx="1691640" cy="1691640"/>
          </a:xfrm>
          <a:prstGeom prst="ellipse">
            <a:avLst/>
          </a:prstGeom>
          <a:solidFill>
            <a:srgbClr val="2F6FED"/>
          </a:solidFill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5252" y="2564892"/>
            <a:ext cx="676656" cy="67665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754880" y="3886200"/>
            <a:ext cx="2057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2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Assessment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62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(4 steps)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629400" y="2948940"/>
            <a:ext cx="365760" cy="0"/>
          </a:xfrm>
          <a:prstGeom prst="line">
            <a:avLst/>
          </a:prstGeom>
          <a:noFill/>
          <a:ln w="25400">
            <a:solidFill>
              <a:srgbClr val="5C7079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995160" y="2103120"/>
            <a:ext cx="1691640" cy="1691640"/>
          </a:xfrm>
          <a:prstGeom prst="ellipse">
            <a:avLst/>
          </a:prstGeom>
          <a:solidFill>
            <a:srgbClr val="2F6FED"/>
          </a:solidFill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2652" y="2564892"/>
            <a:ext cx="676656" cy="6766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812280" y="3886200"/>
            <a:ext cx="20574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2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Result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7840980" y="3794760"/>
            <a:ext cx="0" cy="274320"/>
          </a:xfrm>
          <a:prstGeom prst="line">
            <a:avLst/>
          </a:prstGeom>
          <a:noFill/>
          <a:ln w="25400">
            <a:solidFill>
              <a:srgbClr val="5C7079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6012180" y="4069080"/>
            <a:ext cx="1828800" cy="0"/>
          </a:xfrm>
          <a:prstGeom prst="line">
            <a:avLst/>
          </a:prstGeom>
          <a:noFill/>
          <a:ln w="19050">
            <a:solidFill>
              <a:srgbClr val="5C7079"/>
            </a:solidFill>
            <a:prstDash val="dash"/>
          </a:ln>
        </p:spPr>
      </p:sp>
      <p:sp>
        <p:nvSpPr>
          <p:cNvPr id="22" name="Shape 16"/>
          <p:cNvSpPr/>
          <p:nvPr/>
        </p:nvSpPr>
        <p:spPr>
          <a:xfrm>
            <a:off x="6012180" y="4069080"/>
            <a:ext cx="0" cy="594360"/>
          </a:xfrm>
          <a:prstGeom prst="line">
            <a:avLst/>
          </a:prstGeom>
          <a:noFill/>
          <a:ln w="19050">
            <a:solidFill>
              <a:srgbClr val="5C7079"/>
            </a:solidFill>
            <a:prstDash val="dash"/>
          </a:ln>
        </p:spPr>
      </p:sp>
      <p:sp>
        <p:nvSpPr>
          <p:cNvPr id="23" name="Shape 17"/>
          <p:cNvSpPr/>
          <p:nvPr/>
        </p:nvSpPr>
        <p:spPr>
          <a:xfrm>
            <a:off x="5372100" y="4663440"/>
            <a:ext cx="1280160" cy="1280160"/>
          </a:xfrm>
          <a:prstGeom prst="ellipse">
            <a:avLst/>
          </a:prstGeom>
          <a:solidFill>
            <a:srgbClr val="12B886"/>
          </a:solidFill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3346" y="5007254"/>
            <a:ext cx="537667" cy="537667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5143500" y="5998464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2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Health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62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Overview</a:t>
            </a:r>
            <a:endParaRPr lang="en-US" sz="1100" dirty="0"/>
          </a:p>
        </p:txBody>
      </p:sp>
      <p:sp>
        <p:nvSpPr>
          <p:cNvPr id="26" name="Shape 19"/>
          <p:cNvSpPr/>
          <p:nvPr/>
        </p:nvSpPr>
        <p:spPr>
          <a:xfrm>
            <a:off x="7840980" y="4069080"/>
            <a:ext cx="0" cy="0"/>
          </a:xfrm>
          <a:prstGeom prst="line">
            <a:avLst/>
          </a:prstGeom>
          <a:noFill/>
          <a:ln w="19050">
            <a:solidFill>
              <a:srgbClr val="5C7079"/>
            </a:solidFill>
            <a:prstDash val="dash"/>
          </a:ln>
        </p:spPr>
      </p:sp>
      <p:sp>
        <p:nvSpPr>
          <p:cNvPr id="27" name="Shape 20"/>
          <p:cNvSpPr/>
          <p:nvPr/>
        </p:nvSpPr>
        <p:spPr>
          <a:xfrm>
            <a:off x="7840980" y="4069080"/>
            <a:ext cx="0" cy="594360"/>
          </a:xfrm>
          <a:prstGeom prst="line">
            <a:avLst/>
          </a:prstGeom>
          <a:noFill/>
          <a:ln w="19050">
            <a:solidFill>
              <a:srgbClr val="5C7079"/>
            </a:solidFill>
            <a:prstDash val="dash"/>
          </a:ln>
        </p:spPr>
      </p:sp>
      <p:sp>
        <p:nvSpPr>
          <p:cNvPr id="28" name="Shape 21"/>
          <p:cNvSpPr/>
          <p:nvPr/>
        </p:nvSpPr>
        <p:spPr>
          <a:xfrm>
            <a:off x="7200900" y="4663440"/>
            <a:ext cx="1280160" cy="1280160"/>
          </a:xfrm>
          <a:prstGeom prst="ellipse">
            <a:avLst/>
          </a:prstGeom>
          <a:solidFill>
            <a:srgbClr val="12B886"/>
          </a:solidFill>
        </p:spPr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72146" y="5007254"/>
            <a:ext cx="537667" cy="537667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6972300" y="5998464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2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Find 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62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Doctor</a:t>
            </a:r>
            <a:endParaRPr lang="en-US" sz="1100" dirty="0"/>
          </a:p>
        </p:txBody>
      </p:sp>
      <p:sp>
        <p:nvSpPr>
          <p:cNvPr id="31" name="Shape 23"/>
          <p:cNvSpPr/>
          <p:nvPr/>
        </p:nvSpPr>
        <p:spPr>
          <a:xfrm>
            <a:off x="7840980" y="4069080"/>
            <a:ext cx="1828800" cy="0"/>
          </a:xfrm>
          <a:prstGeom prst="line">
            <a:avLst/>
          </a:prstGeom>
          <a:noFill/>
          <a:ln w="19050">
            <a:solidFill>
              <a:srgbClr val="5C7079"/>
            </a:solidFill>
            <a:prstDash val="dash"/>
          </a:ln>
        </p:spPr>
      </p:sp>
      <p:sp>
        <p:nvSpPr>
          <p:cNvPr id="32" name="Shape 24"/>
          <p:cNvSpPr/>
          <p:nvPr/>
        </p:nvSpPr>
        <p:spPr>
          <a:xfrm>
            <a:off x="9669780" y="4069080"/>
            <a:ext cx="0" cy="594360"/>
          </a:xfrm>
          <a:prstGeom prst="line">
            <a:avLst/>
          </a:prstGeom>
          <a:noFill/>
          <a:ln w="19050">
            <a:solidFill>
              <a:srgbClr val="5C7079"/>
            </a:solidFill>
            <a:prstDash val="dash"/>
          </a:ln>
        </p:spPr>
      </p:sp>
      <p:sp>
        <p:nvSpPr>
          <p:cNvPr id="33" name="Shape 25"/>
          <p:cNvSpPr/>
          <p:nvPr/>
        </p:nvSpPr>
        <p:spPr>
          <a:xfrm>
            <a:off x="9029700" y="4663440"/>
            <a:ext cx="1280160" cy="1280160"/>
          </a:xfrm>
          <a:prstGeom prst="ellipse">
            <a:avLst/>
          </a:prstGeom>
          <a:solidFill>
            <a:srgbClr val="12B886"/>
          </a:solidFill>
        </p:spPr>
      </p:sp>
      <p:pic>
        <p:nvPicPr>
          <p:cNvPr id="34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00946" y="5007254"/>
            <a:ext cx="537667" cy="537667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8801100" y="5998464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2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62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Chatbot</a:t>
            </a:r>
            <a:endParaRPr lang="en-US" sz="1100" dirty="0"/>
          </a:p>
        </p:txBody>
      </p:sp>
      <p:sp>
        <p:nvSpPr>
          <p:cNvPr id="36" name="Text 27"/>
          <p:cNvSpPr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707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Optional / conditional: a referral only appears in the flow when risk warrants one.</a:t>
            </a:r>
            <a:endParaRPr lang="en-US" sz="1000" dirty="0"/>
          </a:p>
        </p:txBody>
      </p:sp>
      <p:sp>
        <p:nvSpPr>
          <p:cNvPr id="37" name="Text 28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07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2B88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WIREFRAME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32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Low-Fidelity Wireframes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707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Sketched in greyscale first, so structure and hierarchy get validated before any colour or branding is applied.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025396" y="1920240"/>
            <a:ext cx="2377440" cy="411480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9050">
            <a:solidFill>
              <a:srgbClr val="9AA5A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25396" y="1920240"/>
            <a:ext cx="2377440" cy="658368"/>
          </a:xfrm>
          <a:prstGeom prst="rect">
            <a:avLst/>
          </a:prstGeom>
          <a:solidFill>
            <a:srgbClr val="D7DEE4"/>
          </a:solidFill>
          <a:ln w="12700">
            <a:solidFill>
              <a:srgbClr val="C3CBD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68042" y="2743200"/>
            <a:ext cx="2092147" cy="822960"/>
          </a:xfrm>
          <a:prstGeom prst="rect">
            <a:avLst/>
          </a:prstGeom>
          <a:solidFill>
            <a:srgbClr val="EDEFF1"/>
          </a:solidFill>
          <a:ln w="12700">
            <a:solidFill>
              <a:srgbClr val="C3CBD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68042" y="3730752"/>
            <a:ext cx="1188720" cy="123444"/>
          </a:xfrm>
          <a:prstGeom prst="rect">
            <a:avLst/>
          </a:prstGeom>
          <a:solidFill>
            <a:srgbClr val="C3CBD1"/>
          </a:solidFill>
        </p:spPr>
      </p:sp>
      <p:sp>
        <p:nvSpPr>
          <p:cNvPr id="9" name="Shape 7"/>
          <p:cNvSpPr/>
          <p:nvPr/>
        </p:nvSpPr>
        <p:spPr>
          <a:xfrm>
            <a:off x="2168042" y="3977640"/>
            <a:ext cx="2092147" cy="452628"/>
          </a:xfrm>
          <a:prstGeom prst="rect">
            <a:avLst/>
          </a:prstGeom>
          <a:solidFill>
            <a:srgbClr val="E1E5E8"/>
          </a:solidFill>
          <a:ln w="12700">
            <a:solidFill>
              <a:srgbClr val="C3CBD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68042" y="4594860"/>
            <a:ext cx="2092147" cy="370332"/>
          </a:xfrm>
          <a:prstGeom prst="roundRect">
            <a:avLst>
              <a:gd name="adj" fmla="val 12346"/>
            </a:avLst>
          </a:prstGeom>
          <a:solidFill>
            <a:srgbClr val="D7DEE4"/>
          </a:solidFill>
          <a:ln w="12700">
            <a:solidFill>
              <a:srgbClr val="9AA5A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168042" y="5088636"/>
            <a:ext cx="2092147" cy="370332"/>
          </a:xfrm>
          <a:prstGeom prst="roundRect">
            <a:avLst>
              <a:gd name="adj" fmla="val 12346"/>
            </a:avLst>
          </a:prstGeom>
          <a:solidFill>
            <a:srgbClr val="D7DEE4"/>
          </a:solidFill>
          <a:ln w="12700">
            <a:solidFill>
              <a:srgbClr val="9AA5A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68042" y="5582412"/>
            <a:ext cx="2092147" cy="329184"/>
          </a:xfrm>
          <a:prstGeom prst="roundRect">
            <a:avLst>
              <a:gd name="adj" fmla="val 13889"/>
            </a:avLst>
          </a:prstGeom>
          <a:solidFill>
            <a:srgbClr val="D7DEE4"/>
          </a:solidFill>
          <a:ln w="12700">
            <a:solidFill>
              <a:srgbClr val="9AA5A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42516" y="6144768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F6F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Home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905756" y="1920240"/>
            <a:ext cx="2377440" cy="411480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9050">
            <a:solidFill>
              <a:srgbClr val="9AA5A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48402" y="2125980"/>
            <a:ext cx="713232" cy="123444"/>
          </a:xfrm>
          <a:prstGeom prst="rect">
            <a:avLst/>
          </a:prstGeom>
          <a:solidFill>
            <a:srgbClr val="C3CBD1"/>
          </a:solidFill>
        </p:spPr>
      </p:sp>
      <p:sp>
        <p:nvSpPr>
          <p:cNvPr id="16" name="Shape 14"/>
          <p:cNvSpPr/>
          <p:nvPr/>
        </p:nvSpPr>
        <p:spPr>
          <a:xfrm>
            <a:off x="5048402" y="2372868"/>
            <a:ext cx="2092147" cy="102870"/>
          </a:xfrm>
          <a:prstGeom prst="rect">
            <a:avLst/>
          </a:prstGeom>
          <a:solidFill>
            <a:srgbClr val="D7DEE4"/>
          </a:solidFill>
          <a:ln w="12700">
            <a:solidFill>
              <a:srgbClr val="C3CBD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48402" y="2660904"/>
            <a:ext cx="950976" cy="144018"/>
          </a:xfrm>
          <a:prstGeom prst="rect">
            <a:avLst/>
          </a:prstGeom>
          <a:solidFill>
            <a:srgbClr val="C3CBD1"/>
          </a:solidFill>
        </p:spPr>
      </p:sp>
      <p:sp>
        <p:nvSpPr>
          <p:cNvPr id="18" name="Shape 16"/>
          <p:cNvSpPr/>
          <p:nvPr/>
        </p:nvSpPr>
        <p:spPr>
          <a:xfrm>
            <a:off x="5048402" y="3072384"/>
            <a:ext cx="594360" cy="102870"/>
          </a:xfrm>
          <a:prstGeom prst="rect">
            <a:avLst/>
          </a:prstGeom>
          <a:solidFill>
            <a:srgbClr val="C3CBD1"/>
          </a:solidFill>
        </p:spPr>
      </p:sp>
      <p:sp>
        <p:nvSpPr>
          <p:cNvPr id="19" name="Shape 17"/>
          <p:cNvSpPr/>
          <p:nvPr/>
        </p:nvSpPr>
        <p:spPr>
          <a:xfrm>
            <a:off x="5048402" y="3319272"/>
            <a:ext cx="2092147" cy="370332"/>
          </a:xfrm>
          <a:prstGeom prst="rect">
            <a:avLst/>
          </a:prstGeom>
          <a:solidFill>
            <a:srgbClr val="EDEFF1"/>
          </a:solidFill>
          <a:ln w="12700">
            <a:solidFill>
              <a:srgbClr val="C3CBD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48402" y="3854196"/>
            <a:ext cx="594360" cy="102870"/>
          </a:xfrm>
          <a:prstGeom prst="rect">
            <a:avLst/>
          </a:prstGeom>
          <a:solidFill>
            <a:srgbClr val="C3CBD1"/>
          </a:solidFill>
        </p:spPr>
      </p:sp>
      <p:sp>
        <p:nvSpPr>
          <p:cNvPr id="21" name="Shape 19"/>
          <p:cNvSpPr/>
          <p:nvPr/>
        </p:nvSpPr>
        <p:spPr>
          <a:xfrm>
            <a:off x="5048402" y="4101084"/>
            <a:ext cx="2092147" cy="370332"/>
          </a:xfrm>
          <a:prstGeom prst="rect">
            <a:avLst/>
          </a:prstGeom>
          <a:solidFill>
            <a:srgbClr val="EDEFF1"/>
          </a:solidFill>
          <a:ln w="12700">
            <a:solidFill>
              <a:srgbClr val="C3CBD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48402" y="4636008"/>
            <a:ext cx="594360" cy="102870"/>
          </a:xfrm>
          <a:prstGeom prst="rect">
            <a:avLst/>
          </a:prstGeom>
          <a:solidFill>
            <a:srgbClr val="C3CBD1"/>
          </a:solidFill>
        </p:spPr>
      </p:sp>
      <p:sp>
        <p:nvSpPr>
          <p:cNvPr id="23" name="Shape 21"/>
          <p:cNvSpPr/>
          <p:nvPr/>
        </p:nvSpPr>
        <p:spPr>
          <a:xfrm>
            <a:off x="5048402" y="4882896"/>
            <a:ext cx="998525" cy="370332"/>
          </a:xfrm>
          <a:prstGeom prst="rect">
            <a:avLst/>
          </a:prstGeom>
          <a:solidFill>
            <a:srgbClr val="EDEFF1"/>
          </a:solidFill>
          <a:ln w="12700">
            <a:solidFill>
              <a:srgbClr val="C3CBD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42025" y="4882896"/>
            <a:ext cx="998525" cy="370332"/>
          </a:xfrm>
          <a:prstGeom prst="rect">
            <a:avLst/>
          </a:prstGeom>
          <a:solidFill>
            <a:srgbClr val="EDEFF1"/>
          </a:solidFill>
          <a:ln w="12700">
            <a:solidFill>
              <a:srgbClr val="C3CBD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48402" y="5582412"/>
            <a:ext cx="2092147" cy="329184"/>
          </a:xfrm>
          <a:prstGeom prst="roundRect">
            <a:avLst>
              <a:gd name="adj" fmla="val 13889"/>
            </a:avLst>
          </a:prstGeom>
          <a:solidFill>
            <a:srgbClr val="D7DEE4"/>
          </a:solidFill>
          <a:ln w="12700">
            <a:solidFill>
              <a:srgbClr val="9AA5A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22876" y="6144768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F6F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Assessment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7786116" y="1920240"/>
            <a:ext cx="2377440" cy="411480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9050">
            <a:solidFill>
              <a:srgbClr val="9AA5A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928762" y="2125980"/>
            <a:ext cx="1188720" cy="144018"/>
          </a:xfrm>
          <a:prstGeom prst="rect">
            <a:avLst/>
          </a:prstGeom>
          <a:solidFill>
            <a:srgbClr val="C3CBD1"/>
          </a:solidFill>
        </p:spPr>
      </p:sp>
      <p:sp>
        <p:nvSpPr>
          <p:cNvPr id="29" name="Shape 27"/>
          <p:cNvSpPr/>
          <p:nvPr/>
        </p:nvSpPr>
        <p:spPr>
          <a:xfrm>
            <a:off x="7928762" y="2372868"/>
            <a:ext cx="713232" cy="102870"/>
          </a:xfrm>
          <a:prstGeom prst="rect">
            <a:avLst/>
          </a:prstGeom>
          <a:solidFill>
            <a:srgbClr val="C3CBD1"/>
          </a:solidFill>
        </p:spPr>
      </p:sp>
      <p:sp>
        <p:nvSpPr>
          <p:cNvPr id="30" name="Shape 28"/>
          <p:cNvSpPr/>
          <p:nvPr/>
        </p:nvSpPr>
        <p:spPr>
          <a:xfrm>
            <a:off x="8451799" y="2702052"/>
            <a:ext cx="1046074" cy="905256"/>
          </a:xfrm>
          <a:prstGeom prst="ellipse">
            <a:avLst/>
          </a:prstGeom>
          <a:solidFill>
            <a:srgbClr val="E1E5E8"/>
          </a:solidFill>
          <a:ln w="12700">
            <a:solidFill>
              <a:srgbClr val="C3CBD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142732" y="3813048"/>
            <a:ext cx="1664208" cy="246888"/>
          </a:xfrm>
          <a:prstGeom prst="rect">
            <a:avLst/>
          </a:prstGeom>
          <a:solidFill>
            <a:srgbClr val="C3CBD1"/>
          </a:solidFill>
        </p:spPr>
      </p:sp>
      <p:sp>
        <p:nvSpPr>
          <p:cNvPr id="32" name="Shape 30"/>
          <p:cNvSpPr/>
          <p:nvPr/>
        </p:nvSpPr>
        <p:spPr>
          <a:xfrm>
            <a:off x="7928762" y="4306824"/>
            <a:ext cx="2092147" cy="411480"/>
          </a:xfrm>
          <a:prstGeom prst="rect">
            <a:avLst/>
          </a:prstGeom>
          <a:solidFill>
            <a:srgbClr val="EDEFF1"/>
          </a:solidFill>
          <a:ln w="12700">
            <a:solidFill>
              <a:srgbClr val="C3CBD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928762" y="4800600"/>
            <a:ext cx="2092147" cy="411480"/>
          </a:xfrm>
          <a:prstGeom prst="rect">
            <a:avLst/>
          </a:prstGeom>
          <a:solidFill>
            <a:srgbClr val="EDEFF1"/>
          </a:solidFill>
          <a:ln w="12700">
            <a:solidFill>
              <a:srgbClr val="C3CBD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928762" y="5294376"/>
            <a:ext cx="2092147" cy="411480"/>
          </a:xfrm>
          <a:prstGeom prst="rect">
            <a:avLst/>
          </a:prstGeom>
          <a:solidFill>
            <a:srgbClr val="EDEFF1"/>
          </a:solidFill>
          <a:ln w="12700">
            <a:solidFill>
              <a:srgbClr val="C3CBD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928762" y="5788152"/>
            <a:ext cx="2092147" cy="185166"/>
          </a:xfrm>
          <a:prstGeom prst="roundRect">
            <a:avLst>
              <a:gd name="adj" fmla="val 24691"/>
            </a:avLst>
          </a:prstGeom>
          <a:solidFill>
            <a:srgbClr val="D7DEE4"/>
          </a:solidFill>
          <a:ln w="12700">
            <a:solidFill>
              <a:srgbClr val="9AA5A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03236" y="6144768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F6F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Result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07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2B88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WIREFRAME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32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Why These Structures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4924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12213E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993392"/>
            <a:ext cx="502920" cy="502920"/>
          </a:xfrm>
          <a:prstGeom prst="ellipse">
            <a:avLst/>
          </a:prstGeom>
          <a:solidFill>
            <a:srgbClr val="E9EEFB"/>
          </a:solidFill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7829" y="2106549"/>
            <a:ext cx="276606" cy="27660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975104"/>
            <a:ext cx="41605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Content Before Colour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04672" y="2606040"/>
            <a:ext cx="484632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707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Wireframes used only greyscale blocks, so feedback stayed focused on layout and priority — not on button colours.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217920" y="1737360"/>
            <a:ext cx="534924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12213E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73952" y="1993392"/>
            <a:ext cx="502920" cy="502920"/>
          </a:xfrm>
          <a:prstGeom prst="ellipse">
            <a:avLst/>
          </a:prstGeom>
          <a:solidFill>
            <a:srgbClr val="E4F7F0"/>
          </a:solidFill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7109" y="2106549"/>
            <a:ext cx="276606" cy="27660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32320" y="1975104"/>
            <a:ext cx="41605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One Primary Action per Screen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473952" y="2606040"/>
            <a:ext cx="484632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707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wireframe has exactly one prominent button, keeping the next step unambiguous even at low fidelity.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977640"/>
            <a:ext cx="534924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12213E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04672" y="4233672"/>
            <a:ext cx="502920" cy="502920"/>
          </a:xfrm>
          <a:prstGeom prst="ellipse">
            <a:avLst/>
          </a:prstGeom>
          <a:solidFill>
            <a:srgbClr val="E9EEFB"/>
          </a:solidFill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829" y="4346829"/>
            <a:ext cx="276606" cy="27660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63040" y="4215384"/>
            <a:ext cx="41605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Form Fields Sketched at Real Density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04672" y="4846320"/>
            <a:ext cx="484632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707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assessment wireframe used the actual field count per step, to catch crowding early — before it became a development problem.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217920" y="3977640"/>
            <a:ext cx="534924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12213E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73952" y="4233672"/>
            <a:ext cx="502920" cy="502920"/>
          </a:xfrm>
          <a:prstGeom prst="ellipse">
            <a:avLst/>
          </a:prstGeom>
          <a:solidFill>
            <a:srgbClr val="E4F7F0"/>
          </a:solidFill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7109" y="4346829"/>
            <a:ext cx="276606" cy="27660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32320" y="4215384"/>
            <a:ext cx="41605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Result Hierarchy Set Early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6473952" y="4846320"/>
            <a:ext cx="484632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707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score-first, actions-second layout was fixed at the wireframe stage, so later visual design didn't have to re-litigate structure.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07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2B88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UI KIT · 1 OF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32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Colour Palette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707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One dominant blue for trust and action, with a small, purposeful set of status colours — never decorative.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1783080" cy="1188720"/>
          </a:xfrm>
          <a:prstGeom prst="roundRect">
            <a:avLst>
              <a:gd name="adj" fmla="val 6923"/>
            </a:avLst>
          </a:prstGeom>
          <a:solidFill>
            <a:srgbClr val="2F6FED"/>
          </a:solidFill>
        </p:spPr>
      </p:sp>
      <p:sp>
        <p:nvSpPr>
          <p:cNvPr id="6" name="Text 4"/>
          <p:cNvSpPr/>
          <p:nvPr/>
        </p:nvSpPr>
        <p:spPr>
          <a:xfrm>
            <a:off x="594360" y="3319272"/>
            <a:ext cx="1691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Primary Blue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3575304"/>
            <a:ext cx="16916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707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#2F6FED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94360" y="3813048"/>
            <a:ext cx="1691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C707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CTAs, links, active states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496312" y="2057400"/>
            <a:ext cx="1783080" cy="1188720"/>
          </a:xfrm>
          <a:prstGeom prst="roundRect">
            <a:avLst>
              <a:gd name="adj" fmla="val 6923"/>
            </a:avLst>
          </a:prstGeom>
          <a:solidFill>
            <a:srgbClr val="12213E"/>
          </a:solidFill>
        </p:spPr>
      </p:sp>
      <p:sp>
        <p:nvSpPr>
          <p:cNvPr id="10" name="Text 8"/>
          <p:cNvSpPr/>
          <p:nvPr/>
        </p:nvSpPr>
        <p:spPr>
          <a:xfrm>
            <a:off x="2542032" y="3319272"/>
            <a:ext cx="1691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Navy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542032" y="3575304"/>
            <a:ext cx="16916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707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#12213E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542032" y="3813048"/>
            <a:ext cx="1691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C707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Headers on dark, title slides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443984" y="2057400"/>
            <a:ext cx="1783080" cy="1188720"/>
          </a:xfrm>
          <a:prstGeom prst="roundRect">
            <a:avLst>
              <a:gd name="adj" fmla="val 6923"/>
            </a:avLst>
          </a:prstGeom>
          <a:solidFill>
            <a:srgbClr val="12B886"/>
          </a:solidFill>
        </p:spPr>
      </p:sp>
      <p:sp>
        <p:nvSpPr>
          <p:cNvPr id="14" name="Text 12"/>
          <p:cNvSpPr/>
          <p:nvPr/>
        </p:nvSpPr>
        <p:spPr>
          <a:xfrm>
            <a:off x="4489704" y="3319272"/>
            <a:ext cx="1691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Teal Green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489704" y="3575304"/>
            <a:ext cx="16916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707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#12B886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489704" y="3813048"/>
            <a:ext cx="1691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C707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Positive trend, low risk, success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391656" y="2057400"/>
            <a:ext cx="1783080" cy="1188720"/>
          </a:xfrm>
          <a:prstGeom prst="roundRect">
            <a:avLst>
              <a:gd name="adj" fmla="val 6923"/>
            </a:avLst>
          </a:prstGeom>
          <a:solidFill>
            <a:srgbClr val="F0A202"/>
          </a:solidFill>
        </p:spPr>
      </p:sp>
      <p:sp>
        <p:nvSpPr>
          <p:cNvPr id="18" name="Text 16"/>
          <p:cNvSpPr/>
          <p:nvPr/>
        </p:nvSpPr>
        <p:spPr>
          <a:xfrm>
            <a:off x="6437376" y="3319272"/>
            <a:ext cx="1691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Amber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37376" y="3575304"/>
            <a:ext cx="16916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707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#F0A202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437376" y="3813048"/>
            <a:ext cx="1691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C707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Medium risk, caution states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8339328" y="2057400"/>
            <a:ext cx="1783080" cy="1188720"/>
          </a:xfrm>
          <a:prstGeom prst="roundRect">
            <a:avLst>
              <a:gd name="adj" fmla="val 6923"/>
            </a:avLst>
          </a:prstGeom>
          <a:solidFill>
            <a:srgbClr val="E63946"/>
          </a:solidFill>
        </p:spPr>
      </p:sp>
      <p:sp>
        <p:nvSpPr>
          <p:cNvPr id="22" name="Text 20"/>
          <p:cNvSpPr/>
          <p:nvPr/>
        </p:nvSpPr>
        <p:spPr>
          <a:xfrm>
            <a:off x="8385048" y="3319272"/>
            <a:ext cx="1691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Alert Red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385048" y="3575304"/>
            <a:ext cx="16916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707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#E63946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385048" y="3813048"/>
            <a:ext cx="1691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C707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 risk, referral, urgent action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10287000" y="2057400"/>
            <a:ext cx="1783080" cy="1188720"/>
          </a:xfrm>
          <a:prstGeom prst="roundRect">
            <a:avLst>
              <a:gd name="adj" fmla="val 6923"/>
            </a:avLst>
          </a:prstGeom>
          <a:solidFill>
            <a:srgbClr val="7C4DFF"/>
          </a:solidFill>
        </p:spPr>
      </p:sp>
      <p:sp>
        <p:nvSpPr>
          <p:cNvPr id="26" name="Text 24"/>
          <p:cNvSpPr/>
          <p:nvPr/>
        </p:nvSpPr>
        <p:spPr>
          <a:xfrm>
            <a:off x="10332720" y="3319272"/>
            <a:ext cx="1691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Purple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332720" y="3575304"/>
            <a:ext cx="16916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707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#7C4DFF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0332720" y="3813048"/>
            <a:ext cx="1691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C707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Find-a-Doctor accent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48640" y="434340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12213E">
                <a:alpha val="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77240" y="448056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F6F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NEUTRALS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77240" y="4800600"/>
            <a:ext cx="457200" cy="457200"/>
          </a:xfrm>
          <a:prstGeom prst="ellipse">
            <a:avLst/>
          </a:prstGeom>
          <a:solidFill>
            <a:srgbClr val="16232B"/>
          </a:solidFill>
          <a:ln w="12700">
            <a:solidFill>
              <a:srgbClr val="C3CBD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344168" y="4828032"/>
            <a:ext cx="1554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62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Text Dark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2926080" y="4800600"/>
            <a:ext cx="457200" cy="457200"/>
          </a:xfrm>
          <a:prstGeom prst="ellipse">
            <a:avLst/>
          </a:prstGeom>
          <a:solidFill>
            <a:srgbClr val="5C7079"/>
          </a:solidFill>
          <a:ln w="12700">
            <a:solidFill>
              <a:srgbClr val="C3CBD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93008" y="4828032"/>
            <a:ext cx="1554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62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Muted / Captions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074920" y="4800600"/>
            <a:ext cx="457200" cy="457200"/>
          </a:xfrm>
          <a:prstGeom prst="ellipse">
            <a:avLst/>
          </a:prstGeom>
          <a:solidFill>
            <a:srgbClr val="E7EAED"/>
          </a:solidFill>
          <a:ln w="12700">
            <a:solidFill>
              <a:srgbClr val="C3CBD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41848" y="4828032"/>
            <a:ext cx="1554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62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Borders / Dividers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7223760" y="4800600"/>
            <a:ext cx="457200" cy="457200"/>
          </a:xfrm>
          <a:prstGeom prst="ellipse">
            <a:avLst/>
          </a:prstGeom>
          <a:solidFill>
            <a:srgbClr val="F5F8FA"/>
          </a:solidFill>
          <a:ln w="12700">
            <a:solidFill>
              <a:srgbClr val="C3CBD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790688" y="4828032"/>
            <a:ext cx="1554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62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Background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9372600" y="480060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3CBD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939528" y="4828032"/>
            <a:ext cx="1554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62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Surface / Cards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07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2B88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UI KIT · 2 OF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32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Typography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707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single type family, weighted for a strict hierarchy — so patients always know what to read first.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6675120" cy="3931920"/>
          </a:xfrm>
          <a:prstGeom prst="roundRect">
            <a:avLst>
              <a:gd name="adj" fmla="val 2093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12213E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2194560"/>
            <a:ext cx="61264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2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Inter / Poppins SemiBold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68680" y="2743200"/>
            <a:ext cx="61264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707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Headline · 24–32pt · Bold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868680" y="3246120"/>
            <a:ext cx="6080760" cy="0"/>
          </a:xfrm>
          <a:prstGeom prst="line">
            <a:avLst/>
          </a:prstGeom>
          <a:noFill/>
          <a:ln w="12700">
            <a:solidFill>
              <a:srgbClr val="E7E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3429000"/>
            <a:ext cx="61264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6232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Section Title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68680" y="3840480"/>
            <a:ext cx="61264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707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Section header · 18–20pt · SemiBold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68680" y="4297680"/>
            <a:ext cx="6080760" cy="0"/>
          </a:xfrm>
          <a:prstGeom prst="line">
            <a:avLst/>
          </a:prstGeom>
          <a:noFill/>
          <a:ln w="12700">
            <a:solidFill>
              <a:srgbClr val="E7E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4434840"/>
            <a:ext cx="6126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62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Body text sits at 14–16pt Regular — legible at arm's length, never smaller.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68680" y="4937760"/>
            <a:ext cx="61264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707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Body · 14–16pt · Regular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68680" y="5394960"/>
            <a:ext cx="6080760" cy="0"/>
          </a:xfrm>
          <a:prstGeom prst="line">
            <a:avLst/>
          </a:prstGeom>
          <a:noFill/>
          <a:ln w="12700">
            <a:solidFill>
              <a:srgbClr val="E7E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5486400"/>
            <a:ext cx="61264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707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Caption / helper text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68680" y="5760720"/>
            <a:ext cx="6126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707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Caption · 11–12pt · Regular, muted colour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452360" y="1965960"/>
            <a:ext cx="4160520" cy="3931920"/>
          </a:xfrm>
          <a:prstGeom prst="roundRect">
            <a:avLst>
              <a:gd name="adj" fmla="val 2093"/>
            </a:avLst>
          </a:prstGeom>
          <a:solidFill>
            <a:srgbClr val="12213E"/>
          </a:solidFill>
        </p:spPr>
      </p:sp>
      <p:sp>
        <p:nvSpPr>
          <p:cNvPr id="18" name="Text 16"/>
          <p:cNvSpPr/>
          <p:nvPr/>
        </p:nvSpPr>
        <p:spPr>
          <a:xfrm>
            <a:off x="7680960" y="2194560"/>
            <a:ext cx="37033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Usage Rules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680960" y="2651760"/>
            <a:ext cx="3703320" cy="3108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200" dirty="0">
                <a:solidFill>
                  <a:srgbClr val="E3E9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One headline per screen — never two competing large titles.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200" dirty="0">
                <a:solidFill>
                  <a:srgbClr val="E3E9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Body copy is left-aligned; never centre long text.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200" dirty="0">
                <a:solidFill>
                  <a:srgbClr val="E3E9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Muted grey is for captions only, never for primary content.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200" dirty="0">
                <a:solidFill>
                  <a:srgbClr val="E3E9F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Bold is used for emphasis, not decoration — one bold phrase per paragraph, at most.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07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2B88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UI KIT · 3 OF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32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Core Components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707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small, reusable set — every screen in the app is built from these same pieces.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56616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12213E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130552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50" dirty="0">
                <a:solidFill>
                  <a:srgbClr val="2F6F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BUTTONS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22960" y="2560320"/>
            <a:ext cx="3017520" cy="457200"/>
          </a:xfrm>
          <a:prstGeom prst="roundRect">
            <a:avLst>
              <a:gd name="adj" fmla="val 16000"/>
            </a:avLst>
          </a:prstGeom>
          <a:solidFill>
            <a:srgbClr val="2F6FED"/>
          </a:solidFill>
        </p:spPr>
      </p:sp>
      <p:sp>
        <p:nvSpPr>
          <p:cNvPr id="8" name="Text 6"/>
          <p:cNvSpPr/>
          <p:nvPr/>
        </p:nvSpPr>
        <p:spPr>
          <a:xfrm>
            <a:off x="822960" y="2560320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Primary CTA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3154680"/>
            <a:ext cx="301752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2F6F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154680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F6F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Secondary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3703320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C707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Full-width, 8px radius, one primary action per screen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297680" y="1965960"/>
            <a:ext cx="356616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12213E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26280" y="2130552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50" dirty="0">
                <a:solidFill>
                  <a:srgbClr val="2F6F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STATUS BADGES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0" y="2606040"/>
            <a:ext cx="914400" cy="384048"/>
          </a:xfrm>
          <a:prstGeom prst="roundRect">
            <a:avLst>
              <a:gd name="adj" fmla="val 47619"/>
            </a:avLst>
          </a:prstGeom>
          <a:solidFill>
            <a:srgbClr val="12B886"/>
          </a:solidFill>
        </p:spPr>
      </p:sp>
      <p:sp>
        <p:nvSpPr>
          <p:cNvPr id="15" name="Text 13"/>
          <p:cNvSpPr/>
          <p:nvPr/>
        </p:nvSpPr>
        <p:spPr>
          <a:xfrm>
            <a:off x="4572000" y="2606040"/>
            <a:ext cx="9144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Low Risk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577840" y="2606040"/>
            <a:ext cx="914400" cy="384048"/>
          </a:xfrm>
          <a:prstGeom prst="roundRect">
            <a:avLst>
              <a:gd name="adj" fmla="val 47619"/>
            </a:avLst>
          </a:prstGeom>
          <a:solidFill>
            <a:srgbClr val="F0A202"/>
          </a:solidFill>
        </p:spPr>
      </p:sp>
      <p:sp>
        <p:nvSpPr>
          <p:cNvPr id="17" name="Text 15"/>
          <p:cNvSpPr/>
          <p:nvPr/>
        </p:nvSpPr>
        <p:spPr>
          <a:xfrm>
            <a:off x="5577840" y="2606040"/>
            <a:ext cx="9144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Medium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583680" y="2606040"/>
            <a:ext cx="914400" cy="384048"/>
          </a:xfrm>
          <a:prstGeom prst="roundRect">
            <a:avLst>
              <a:gd name="adj" fmla="val 47619"/>
            </a:avLst>
          </a:prstGeom>
          <a:solidFill>
            <a:srgbClr val="E63946"/>
          </a:solidFill>
        </p:spPr>
      </p:sp>
      <p:sp>
        <p:nvSpPr>
          <p:cNvPr id="19" name="Text 17"/>
          <p:cNvSpPr/>
          <p:nvPr/>
        </p:nvSpPr>
        <p:spPr>
          <a:xfrm>
            <a:off x="6583680" y="2606040"/>
            <a:ext cx="9144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 Risk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572000" y="3200400"/>
            <a:ext cx="30175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C707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Same three colours everywhere risk is shown — dashboard, result, and history.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8046720" y="1965960"/>
            <a:ext cx="356616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12213E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275320" y="2130552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50" dirty="0">
                <a:solidFill>
                  <a:srgbClr val="2F6F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CARDS &amp; ICONS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321040" y="2560320"/>
            <a:ext cx="3017520" cy="777240"/>
          </a:xfrm>
          <a:prstGeom prst="roundRect">
            <a:avLst>
              <a:gd name="adj" fmla="val 9412"/>
            </a:avLst>
          </a:prstGeom>
          <a:solidFill>
            <a:srgbClr val="F5F8FA"/>
          </a:solidFill>
          <a:ln w="12700">
            <a:solidFill>
              <a:srgbClr val="E7EAE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58200" y="2697480"/>
            <a:ext cx="502920" cy="502920"/>
          </a:xfrm>
          <a:prstGeom prst="ellipse">
            <a:avLst/>
          </a:prstGeom>
          <a:solidFill>
            <a:srgbClr val="2F6FED"/>
          </a:solidFill>
        </p:spPr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71357" y="2810637"/>
            <a:ext cx="276606" cy="276606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9098280" y="2679192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6232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Card title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9098280" y="2953512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707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Supporting caption text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8321040" y="3429000"/>
            <a:ext cx="30175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C707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12–16px radius, soft shadow, icon always in a coloured circle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07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2B88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FINAL DESIGN · 3 OF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6232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More Screens, Same System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707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Assessment intake, health trends, doctor search, and the AI chatbot — all built from the same UI kit.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6473" y="1901952"/>
            <a:ext cx="1937766" cy="3877056"/>
          </a:xfrm>
          <a:prstGeom prst="roundRect">
            <a:avLst>
              <a:gd name="adj" fmla="val 6606"/>
            </a:avLst>
          </a:prstGeom>
          <a:solidFill>
            <a:srgbClr val="FFFFFF"/>
          </a:solidFill>
          <a:ln w="12700">
            <a:solidFill>
              <a:srgbClr val="E3ECEC"/>
            </a:solidFill>
            <a:prstDash val="solid"/>
          </a:ln>
          <a:effectLst>
            <a:outerShdw blurRad="177800" dist="76200" dir="5400000" algn="bl" rotWithShape="0">
              <a:srgbClr val="12213E">
                <a:alpha val="16000"/>
              </a:srgbClr>
            </a:outerShdw>
          </a:effectLst>
        </p:spPr>
      </p:sp>
      <p:pic>
        <p:nvPicPr>
          <p:cNvPr id="6" name="Image 0" descr="screens/02_step1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6201" y="2011680"/>
            <a:ext cx="1718310" cy="3657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19456" y="5897880"/>
            <a:ext cx="2971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F6F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Assessment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077018" y="1901952"/>
            <a:ext cx="1108835" cy="3877056"/>
          </a:xfrm>
          <a:prstGeom prst="roundRect">
            <a:avLst>
              <a:gd name="adj" fmla="val 11545"/>
            </a:avLst>
          </a:prstGeom>
          <a:solidFill>
            <a:srgbClr val="FFFFFF"/>
          </a:solidFill>
          <a:ln w="12700">
            <a:solidFill>
              <a:srgbClr val="E3ECEC"/>
            </a:solidFill>
            <a:prstDash val="solid"/>
          </a:ln>
          <a:effectLst>
            <a:outerShdw blurRad="177800" dist="76200" dir="5400000" algn="bl" rotWithShape="0">
              <a:srgbClr val="12213E">
                <a:alpha val="16000"/>
              </a:srgbClr>
            </a:outerShdw>
          </a:effectLst>
        </p:spPr>
      </p:sp>
      <p:pic>
        <p:nvPicPr>
          <p:cNvPr id="9" name="Image 1" descr="screens/07_overvie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6746" y="2011680"/>
            <a:ext cx="889379" cy="36576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145536" y="5897880"/>
            <a:ext cx="2971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F6F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Health Overview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6518972" y="1901952"/>
            <a:ext cx="2077088" cy="3877056"/>
          </a:xfrm>
          <a:prstGeom prst="roundRect">
            <a:avLst>
              <a:gd name="adj" fmla="val 6163"/>
            </a:avLst>
          </a:prstGeom>
          <a:solidFill>
            <a:srgbClr val="FFFFFF"/>
          </a:solidFill>
          <a:ln w="12700">
            <a:solidFill>
              <a:srgbClr val="E3ECEC"/>
            </a:solidFill>
            <a:prstDash val="solid"/>
          </a:ln>
          <a:effectLst>
            <a:outerShdw blurRad="177800" dist="76200" dir="5400000" algn="bl" rotWithShape="0">
              <a:srgbClr val="12213E">
                <a:alpha val="16000"/>
              </a:srgbClr>
            </a:outerShdw>
          </a:effectLst>
        </p:spPr>
      </p:sp>
      <p:pic>
        <p:nvPicPr>
          <p:cNvPr id="12" name="Image 2" descr="screens/08_finddocto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8700" y="2011680"/>
            <a:ext cx="1857632" cy="36576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071616" y="5897880"/>
            <a:ext cx="2971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F6F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Find a Doctor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9445052" y="1901952"/>
            <a:ext cx="2077088" cy="3877056"/>
          </a:xfrm>
          <a:prstGeom prst="roundRect">
            <a:avLst>
              <a:gd name="adj" fmla="val 6163"/>
            </a:avLst>
          </a:prstGeom>
          <a:solidFill>
            <a:srgbClr val="FFFFFF"/>
          </a:solidFill>
          <a:ln w="12700">
            <a:solidFill>
              <a:srgbClr val="E3ECEC"/>
            </a:solidFill>
            <a:prstDash val="solid"/>
          </a:ln>
          <a:effectLst>
            <a:outerShdw blurRad="177800" dist="76200" dir="5400000" algn="bl" rotWithShape="0">
              <a:srgbClr val="12213E">
                <a:alpha val="16000"/>
              </a:srgbClr>
            </a:outerShdw>
          </a:effectLst>
        </p:spPr>
      </p:sp>
      <p:pic>
        <p:nvPicPr>
          <p:cNvPr id="15" name="Image 3" descr="screens/09_chatbot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4780" y="2011680"/>
            <a:ext cx="1857632" cy="36576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997696" y="5897880"/>
            <a:ext cx="2971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F6F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Chatbot</a:t>
            </a:r>
            <a:endParaRPr lang="en-US" sz="1250" dirty="0"/>
          </a:p>
        </p:txBody>
      </p:sp>
      <p:sp>
        <p:nvSpPr>
          <p:cNvPr id="17" name="Text 11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707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277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IT DOES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6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Core Features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0868" y="155448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effectLst>
            <a:outerShdw blurRad="127000" dist="38100" dir="5400000" algn="bl" rotWithShape="0">
              <a:srgbClr val="1B243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51280" y="1755648"/>
            <a:ext cx="585216" cy="585216"/>
          </a:xfrm>
          <a:prstGeom prst="ellipse">
            <a:avLst/>
          </a:prstGeom>
          <a:solidFill>
            <a:srgbClr val="0B3D62"/>
          </a:solidFill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9296" y="1883664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32308" y="2468880"/>
            <a:ext cx="2423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Guided Assessment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78028" y="2834640"/>
            <a:ext cx="23317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Enter vital signs &amp; lifestyle data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375508" y="155448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effectLst>
            <a:outerShdw blurRad="127000" dist="38100" dir="5400000" algn="bl" rotWithShape="0">
              <a:srgbClr val="1B243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385920" y="1755648"/>
            <a:ext cx="585216" cy="585216"/>
          </a:xfrm>
          <a:prstGeom prst="ellipse">
            <a:avLst/>
          </a:prstGeom>
          <a:solidFill>
            <a:srgbClr val="12778B"/>
          </a:solidFill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3936" y="1883664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66948" y="2468880"/>
            <a:ext cx="2423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ML Risk Result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512668" y="2834640"/>
            <a:ext cx="23317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Structured, AHA-aligned risk report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210148" y="155448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effectLst>
            <a:outerShdw blurRad="127000" dist="38100" dir="5400000" algn="bl" rotWithShape="0">
              <a:srgbClr val="1B2430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220560" y="1755648"/>
            <a:ext cx="585216" cy="585216"/>
          </a:xfrm>
          <a:prstGeom prst="ellipse">
            <a:avLst/>
          </a:prstGeom>
          <a:solidFill>
            <a:srgbClr val="0B3D62"/>
          </a:solidFill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8576" y="1883664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01588" y="2468880"/>
            <a:ext cx="2423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History Dashboard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347308" y="2834640"/>
            <a:ext cx="23317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Animated trend charts over time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9044788" y="155448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effectLst>
            <a:outerShdw blurRad="127000" dist="38100" dir="5400000" algn="bl" rotWithShape="0">
              <a:srgbClr val="1B2430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10055200" y="1755648"/>
            <a:ext cx="585216" cy="585216"/>
          </a:xfrm>
          <a:prstGeom prst="ellipse">
            <a:avLst/>
          </a:prstGeom>
          <a:solidFill>
            <a:srgbClr val="12778B"/>
          </a:solidFill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83216" y="1883664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36228" y="2468880"/>
            <a:ext cx="2423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PDF Export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9181948" y="2834640"/>
            <a:ext cx="23317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Shareable health status report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540868" y="379476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effectLst>
            <a:outerShdw blurRad="127000" dist="38100" dir="5400000" algn="bl" rotWithShape="0">
              <a:srgbClr val="1B2430">
                <a:alpha val="1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1551280" y="3995928"/>
            <a:ext cx="585216" cy="585216"/>
          </a:xfrm>
          <a:prstGeom prst="ellipse">
            <a:avLst/>
          </a:prstGeom>
          <a:solidFill>
            <a:srgbClr val="0B3D62"/>
          </a:solidFill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79296" y="4123944"/>
            <a:ext cx="329184" cy="32918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32308" y="4709160"/>
            <a:ext cx="2423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Chat Assistant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678028" y="5074920"/>
            <a:ext cx="23317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Answers questions, reads medical files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3375508" y="379476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effectLst>
            <a:outerShdw blurRad="127000" dist="38100" dir="5400000" algn="bl" rotWithShape="0">
              <a:srgbClr val="1B2430">
                <a:alpha val="1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4385920" y="3995928"/>
            <a:ext cx="585216" cy="585216"/>
          </a:xfrm>
          <a:prstGeom prst="ellipse">
            <a:avLst/>
          </a:prstGeom>
          <a:solidFill>
            <a:srgbClr val="12778B"/>
          </a:solidFill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13936" y="4123944"/>
            <a:ext cx="329184" cy="32918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3466948" y="4709160"/>
            <a:ext cx="2423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Articles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3512668" y="5074920"/>
            <a:ext cx="23317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Prevention &amp; nutrition education</a:t>
            </a:r>
            <a:endParaRPr lang="en-US" sz="1050" dirty="0"/>
          </a:p>
        </p:txBody>
      </p:sp>
      <p:sp>
        <p:nvSpPr>
          <p:cNvPr id="34" name="Shape 26"/>
          <p:cNvSpPr/>
          <p:nvPr/>
        </p:nvSpPr>
        <p:spPr>
          <a:xfrm>
            <a:off x="6210148" y="379476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effectLst>
            <a:outerShdw blurRad="127000" dist="38100" dir="5400000" algn="bl" rotWithShape="0">
              <a:srgbClr val="1B2430">
                <a:alpha val="18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7220560" y="3995928"/>
            <a:ext cx="585216" cy="585216"/>
          </a:xfrm>
          <a:prstGeom prst="ellipse">
            <a:avLst/>
          </a:prstGeom>
          <a:solidFill>
            <a:srgbClr val="0B3D62"/>
          </a:solidFill>
        </p:spPr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48576" y="4123944"/>
            <a:ext cx="329184" cy="329184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6301588" y="4709160"/>
            <a:ext cx="2423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Profile &amp; Settings</a:t>
            </a:r>
            <a:endParaRPr lang="en-US" sz="1300" dirty="0"/>
          </a:p>
        </p:txBody>
      </p:sp>
      <p:sp>
        <p:nvSpPr>
          <p:cNvPr id="38" name="Text 29"/>
          <p:cNvSpPr/>
          <p:nvPr/>
        </p:nvSpPr>
        <p:spPr>
          <a:xfrm>
            <a:off x="6347308" y="5074920"/>
            <a:ext cx="23317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Account, language, notifications</a:t>
            </a:r>
            <a:endParaRPr lang="en-US" sz="1050" dirty="0"/>
          </a:p>
        </p:txBody>
      </p:sp>
      <p:sp>
        <p:nvSpPr>
          <p:cNvPr id="39" name="Shape 30"/>
          <p:cNvSpPr/>
          <p:nvPr/>
        </p:nvSpPr>
        <p:spPr>
          <a:xfrm>
            <a:off x="9044788" y="379476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effectLst>
            <a:outerShdw blurRad="127000" dist="38100" dir="5400000" algn="bl" rotWithShape="0">
              <a:srgbClr val="1B2430">
                <a:alpha val="18000"/>
              </a:srgbClr>
            </a:outerShdw>
          </a:effectLst>
        </p:spPr>
      </p:sp>
      <p:sp>
        <p:nvSpPr>
          <p:cNvPr id="40" name="Shape 31"/>
          <p:cNvSpPr/>
          <p:nvPr/>
        </p:nvSpPr>
        <p:spPr>
          <a:xfrm>
            <a:off x="10055200" y="3995928"/>
            <a:ext cx="585216" cy="585216"/>
          </a:xfrm>
          <a:prstGeom prst="ellipse">
            <a:avLst/>
          </a:prstGeom>
          <a:solidFill>
            <a:srgbClr val="12778B"/>
          </a:solidFill>
        </p:spPr>
      </p:sp>
      <p:pic>
        <p:nvPicPr>
          <p:cNvPr id="41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83216" y="4123944"/>
            <a:ext cx="329184" cy="329184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9136228" y="4709160"/>
            <a:ext cx="2423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Offline Caching</a:t>
            </a:r>
            <a:endParaRPr lang="en-US" sz="1300" dirty="0"/>
          </a:p>
        </p:txBody>
      </p:sp>
      <p:sp>
        <p:nvSpPr>
          <p:cNvPr id="43" name="Text 33"/>
          <p:cNvSpPr/>
          <p:nvPr/>
        </p:nvSpPr>
        <p:spPr>
          <a:xfrm>
            <a:off x="9181948" y="5074920"/>
            <a:ext cx="23317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In-memory + persistent local storage</a:t>
            </a:r>
            <a:endParaRPr lang="en-US" sz="1050" dirty="0"/>
          </a:p>
        </p:txBody>
      </p:sp>
      <p:sp>
        <p:nvSpPr>
          <p:cNvPr id="44" name="Text 34"/>
          <p:cNvSpPr/>
          <p:nvPr/>
        </p:nvSpPr>
        <p:spPr>
          <a:xfrm>
            <a:off x="11750040" y="6510528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277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 INTERFACE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6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Simple, Secure Onboarding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4206240" cy="4206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Clean Sign In screen for returning patients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Quick Create Account flow: name, email, password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Terms &amp; Privacy Policy acceptance built in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Session-based authentication via the Node.js AP</a:t>
            </a:r>
            <a:r>
              <a:rPr lang="en-US" sz="140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982576" y="804672"/>
            <a:ext cx="2359152" cy="4974336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effectLst>
            <a:outerShdw blurRad="127000" dist="38100" dir="5400000" algn="bl" rotWithShape="0">
              <a:srgbClr val="1B2430">
                <a:alpha val="18000"/>
              </a:srgbClr>
            </a:outerShdw>
          </a:effectLst>
        </p:spPr>
      </p:sp>
      <p:pic>
        <p:nvPicPr>
          <p:cNvPr id="6" name="Image 0" descr="/mnt/user-data/uploads/screen_1_login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2304" y="914400"/>
            <a:ext cx="2139696" cy="47548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488032" y="804672"/>
            <a:ext cx="2201647" cy="4974336"/>
          </a:xfrm>
          <a:prstGeom prst="roundRect">
            <a:avLst>
              <a:gd name="adj" fmla="val 4984"/>
            </a:avLst>
          </a:prstGeom>
          <a:solidFill>
            <a:srgbClr val="FFFFFF"/>
          </a:solidFill>
          <a:effectLst>
            <a:outerShdw blurRad="127000" dist="38100" dir="5400000" algn="bl" rotWithShape="0">
              <a:srgbClr val="1B2430">
                <a:alpha val="18000"/>
              </a:srgbClr>
            </a:outerShdw>
          </a:effectLst>
        </p:spPr>
      </p:sp>
      <p:pic>
        <p:nvPicPr>
          <p:cNvPr id="8" name="Image 1" descr="/mnt/user-data/uploads/screen_1_register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7760" y="914400"/>
            <a:ext cx="1982191" cy="47548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750040" y="6510528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277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 INTERFACE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6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Home &amp; Assessment History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4206240" cy="4206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Home greets the patient with their latest risk summary</a:t>
            </a:r>
            <a:endParaRPr lang="en-US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One-tap Quick Actions: New Assessment, History, Find Doctors</a:t>
            </a:r>
            <a:endParaRPr lang="en-US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All Assessments tab lists every past evaluation</a:t>
            </a:r>
            <a:endParaRPr lang="en-US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Each entry links to its full risk report</a:t>
            </a:r>
            <a:endParaRPr lang="en-US" dirty="0">
              <a:solidFill>
                <a:srgbClr val="1B243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903824" y="804672"/>
            <a:ext cx="2359152" cy="4974336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effectLst>
            <a:outerShdw blurRad="127000" dist="38100" dir="5400000" algn="bl" rotWithShape="0">
              <a:srgbClr val="1B2430">
                <a:alpha val="18000"/>
              </a:srgbClr>
            </a:outerShdw>
          </a:effectLst>
        </p:spPr>
      </p:sp>
      <p:pic>
        <p:nvPicPr>
          <p:cNvPr id="6" name="Image 0" descr="/mnt/user-data/uploads/screen_2_home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13552" y="914400"/>
            <a:ext cx="2139696" cy="47548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409280" y="804672"/>
            <a:ext cx="2359152" cy="4974336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effectLst>
            <a:outerShdw blurRad="127000" dist="38100" dir="5400000" algn="bl" rotWithShape="0">
              <a:srgbClr val="1B2430">
                <a:alpha val="18000"/>
              </a:srgbClr>
            </a:outerShdw>
          </a:effectLst>
        </p:spPr>
      </p:sp>
      <p:pic>
        <p:nvPicPr>
          <p:cNvPr id="8" name="Image 1" descr="/mnt/user-data/uploads/screen_3_all_assessment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9008" y="914400"/>
            <a:ext cx="2139696" cy="47548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750040" y="6510528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277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FLAGSHIP FEATURE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6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ML-Generated Risk Result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4206240" cy="4206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Overall risk probability &amp; risk level at a glance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AHA-aligned status for blood pressure, sugar &amp; cholesterol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Structured breakdown: risk factors, positives, recommendations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Lifestyle tips, warning signs &amp; a suggested follow-up timeframe</a:t>
            </a:r>
            <a:endParaRPr lang="en-US" sz="2000" dirty="0">
              <a:solidFill>
                <a:srgbClr val="1B243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458064" y="804672"/>
            <a:ext cx="1250671" cy="4974336"/>
          </a:xfrm>
          <a:prstGeom prst="roundRect">
            <a:avLst>
              <a:gd name="adj" fmla="val 8774"/>
            </a:avLst>
          </a:prstGeom>
          <a:solidFill>
            <a:srgbClr val="FFFFFF"/>
          </a:solidFill>
          <a:effectLst>
            <a:outerShdw blurRad="127000" dist="38100" dir="5400000" algn="bl" rotWithShape="0">
              <a:srgbClr val="1B2430">
                <a:alpha val="18000"/>
              </a:srgbClr>
            </a:outerShdw>
          </a:effectLst>
        </p:spPr>
      </p:sp>
      <p:pic>
        <p:nvPicPr>
          <p:cNvPr id="6" name="Image 0" descr="/mnt/user-data/uploads/screen_5_result_part_1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67792" y="914400"/>
            <a:ext cx="1031215" cy="47548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855039" y="804672"/>
            <a:ext cx="2359152" cy="4974336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effectLst>
            <a:outerShdw blurRad="127000" dist="38100" dir="5400000" algn="bl" rotWithShape="0">
              <a:srgbClr val="1B2430">
                <a:alpha val="18000"/>
              </a:srgbClr>
            </a:outerShdw>
          </a:effectLst>
        </p:spPr>
      </p:sp>
      <p:pic>
        <p:nvPicPr>
          <p:cNvPr id="8" name="Image 1" descr="/mnt/user-data/uploads/screen_5_result_part_2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4767" y="914400"/>
            <a:ext cx="2139696" cy="47548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750040" y="6510528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277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 INTERFACE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6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History &amp; Analytics Dashboard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4206240" cy="4206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Animated fl_chart line charts for risk, BMI &amp; blood pressure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Tracks trends across every assessment over time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Surfaces recurring risk factors &amp; persistent warning signs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Latest lab values shown alongside long-term progres</a:t>
            </a:r>
            <a:r>
              <a:rPr lang="en-US" sz="160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877213" y="804672"/>
            <a:ext cx="917829" cy="4974336"/>
          </a:xfrm>
          <a:prstGeom prst="roundRect">
            <a:avLst>
              <a:gd name="adj" fmla="val 11955"/>
            </a:avLst>
          </a:prstGeom>
          <a:solidFill>
            <a:srgbClr val="FFFFFF"/>
          </a:solidFill>
          <a:effectLst>
            <a:outerShdw blurRad="127000" dist="38100" dir="5400000" algn="bl" rotWithShape="0">
              <a:srgbClr val="1B2430">
                <a:alpha val="18000"/>
              </a:srgbClr>
            </a:outerShdw>
          </a:effectLst>
        </p:spPr>
      </p:sp>
      <p:pic>
        <p:nvPicPr>
          <p:cNvPr id="6" name="Image 0" descr="/mnt/user-data/uploads/screen_4_dashboard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86941" y="914400"/>
            <a:ext cx="698373" cy="47548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750040" y="6510528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277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 INTERFACE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6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Shareable PDF Report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4206240" cy="4206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One-tap export of the full Health Status Report</a:t>
            </a:r>
            <a:endParaRPr lang="en-US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Includes trend charts, assessment history table &amp; insights</a:t>
            </a:r>
            <a:endParaRPr lang="en-US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Designed to be shared directly with a physician</a:t>
            </a:r>
            <a:endParaRPr lang="en-US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Generated on-device with the pdf &amp; printing packages</a:t>
            </a:r>
            <a:endParaRPr lang="en-US" dirty="0">
              <a:solidFill>
                <a:srgbClr val="1B243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117440" y="1022358"/>
            <a:ext cx="3145536" cy="4356084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effectLst>
            <a:outerShdw blurRad="127000" dist="38100" dir="5400000" algn="bl" rotWithShape="0">
              <a:srgbClr val="1B2430">
                <a:alpha val="18000"/>
              </a:srgbClr>
            </a:outerShdw>
          </a:effectLst>
        </p:spPr>
      </p:sp>
      <p:pic>
        <p:nvPicPr>
          <p:cNvPr id="6" name="Image 0" descr="/home/claude/work/pdfpage-1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27168" y="1132086"/>
            <a:ext cx="2926080" cy="413662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409280" y="1022358"/>
            <a:ext cx="3145536" cy="4356084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effectLst>
            <a:outerShdw blurRad="127000" dist="38100" dir="5400000" algn="bl" rotWithShape="0">
              <a:srgbClr val="1B2430">
                <a:alpha val="18000"/>
              </a:srgbClr>
            </a:outerShdw>
          </a:effectLst>
        </p:spPr>
      </p:sp>
      <p:pic>
        <p:nvPicPr>
          <p:cNvPr id="8" name="Image 1" descr="/home/claude/work/pdfpage-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9008" y="1132086"/>
            <a:ext cx="2926080" cy="413662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750040" y="6510528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277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 INTERFACE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6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Chat Assistant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4206240" cy="4206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Answers heart-health, prevention &amp; lifestyle questions</a:t>
            </a:r>
            <a:endParaRPr lang="en-US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Quick-question suggestions for common topics</a:t>
            </a:r>
            <a:endParaRPr lang="en-US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Attach photos, camera shots, or PDF medical files</a:t>
            </a:r>
            <a:endParaRPr lang="en-US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Analyzes ECGs, X-rays &amp; lab reports on request</a:t>
            </a:r>
            <a:endParaRPr lang="en-US" dirty="0">
              <a:solidFill>
                <a:srgbClr val="1B243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903824" y="804672"/>
            <a:ext cx="2359152" cy="4974336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effectLst>
            <a:outerShdw blurRad="127000" dist="38100" dir="5400000" algn="bl" rotWithShape="0">
              <a:srgbClr val="1B2430">
                <a:alpha val="18000"/>
              </a:srgbClr>
            </a:outerShdw>
          </a:effectLst>
        </p:spPr>
      </p:sp>
      <p:pic>
        <p:nvPicPr>
          <p:cNvPr id="6" name="Image 0" descr="/mnt/user-data/uploads/screen_8_chat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13552" y="914400"/>
            <a:ext cx="2139696" cy="47548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409280" y="804672"/>
            <a:ext cx="2359152" cy="4974336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effectLst>
            <a:outerShdw blurRad="127000" dist="38100" dir="5400000" algn="bl" rotWithShape="0">
              <a:srgbClr val="1B2430">
                <a:alpha val="18000"/>
              </a:srgbClr>
            </a:outerShdw>
          </a:effectLst>
        </p:spPr>
      </p:sp>
      <p:pic>
        <p:nvPicPr>
          <p:cNvPr id="8" name="Image 1" descr="/mnt/user-data/uploads/screen_8_chat_upload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9008" y="914400"/>
            <a:ext cx="2139696" cy="47548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750040" y="6510528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277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 INTERFACE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3D6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Articles, Profile &amp; Settings</a:t>
            </a:r>
            <a:endParaRPr lang="en-US" sz="2800" b="1" dirty="0">
              <a:solidFill>
                <a:srgbClr val="0B3D62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4206240" cy="4206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Educational articles on prevention &amp; nutrition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Profile with account info, security &amp; privacy options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Language switcher: English / Arabic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Instant updates across the app after any profile edi</a:t>
            </a:r>
            <a:r>
              <a:rPr lang="en-US" sz="160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</a:t>
            </a:r>
            <a:endParaRPr lang="en-US" sz="1600" dirty="0">
              <a:solidFill>
                <a:srgbClr val="1B243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021428" y="804672"/>
            <a:ext cx="2112264" cy="4425696"/>
          </a:xfrm>
          <a:prstGeom prst="roundRect">
            <a:avLst>
              <a:gd name="adj" fmla="val 5195"/>
            </a:avLst>
          </a:prstGeom>
          <a:solidFill>
            <a:srgbClr val="FFFFFF"/>
          </a:solidFill>
          <a:effectLst>
            <a:outerShdw blurRad="127000" dist="38100" dir="5400000" algn="bl" rotWithShape="0">
              <a:srgbClr val="1B2430">
                <a:alpha val="18000"/>
              </a:srgbClr>
            </a:outerShdw>
          </a:effectLst>
        </p:spPr>
      </p:sp>
      <p:pic>
        <p:nvPicPr>
          <p:cNvPr id="6" name="Image 0" descr="/mnt/user-data/uploads/screen_6_articles.jpe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31156" y="914400"/>
            <a:ext cx="1892808" cy="42062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279996" y="804672"/>
            <a:ext cx="2112264" cy="4425696"/>
          </a:xfrm>
          <a:prstGeom prst="roundRect">
            <a:avLst>
              <a:gd name="adj" fmla="val 5195"/>
            </a:avLst>
          </a:prstGeom>
          <a:solidFill>
            <a:srgbClr val="FFFFFF"/>
          </a:solidFill>
          <a:effectLst>
            <a:outerShdw blurRad="127000" dist="38100" dir="5400000" algn="bl" rotWithShape="0">
              <a:srgbClr val="1B2430">
                <a:alpha val="18000"/>
              </a:srgbClr>
            </a:outerShdw>
          </a:effectLst>
        </p:spPr>
      </p:sp>
      <p:pic>
        <p:nvPicPr>
          <p:cNvPr id="8" name="Image 1" descr="/mnt/user-data/uploads/screen_9_profile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9724" y="914400"/>
            <a:ext cx="1892808" cy="420624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9538564" y="804672"/>
            <a:ext cx="2112264" cy="4425696"/>
          </a:xfrm>
          <a:prstGeom prst="roundRect">
            <a:avLst>
              <a:gd name="adj" fmla="val 5195"/>
            </a:avLst>
          </a:prstGeom>
          <a:solidFill>
            <a:srgbClr val="FFFFFF"/>
          </a:solidFill>
          <a:effectLst>
            <a:outerShdw blurRad="127000" dist="38100" dir="5400000" algn="bl" rotWithShape="0">
              <a:srgbClr val="1B2430">
                <a:alpha val="18000"/>
              </a:srgbClr>
            </a:outerShdw>
          </a:effectLst>
        </p:spPr>
      </p:sp>
      <p:pic>
        <p:nvPicPr>
          <p:cNvPr id="10" name="Image 2" descr="/mnt/user-data/uploads/screen_11_languag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8292" y="914400"/>
            <a:ext cx="1892808" cy="42062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750040" y="6510528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277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UNDER THE HOOD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6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Clean Architecture &amp; BLoC State Management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0868" y="1554480"/>
            <a:ext cx="539496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effectLst>
            <a:outerShdw blurRad="127000" dist="38100" dir="5400000" algn="bl" rotWithShape="0">
              <a:srgbClr val="1B243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9468" y="1783080"/>
            <a:ext cx="640080" cy="640080"/>
          </a:xfrm>
          <a:prstGeom prst="ellipse">
            <a:avLst/>
          </a:prstGeom>
          <a:solidFill>
            <a:srgbClr val="0B3D62"/>
          </a:solidFill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4916" y="193852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46708" y="1737360"/>
            <a:ext cx="4251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Clean Architecture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546708" y="2121408"/>
            <a:ext cx="4251960" cy="1051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7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core / features / shared / theme — data &amp; presentation split per feature, domain layer omitted for simplicity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255868" y="1554480"/>
            <a:ext cx="539496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effectLst>
            <a:outerShdw blurRad="127000" dist="38100" dir="5400000" algn="bl" rotWithShape="0">
              <a:srgbClr val="1B243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84468" y="1783080"/>
            <a:ext cx="640080" cy="640080"/>
          </a:xfrm>
          <a:prstGeom prst="ellipse">
            <a:avLst/>
          </a:prstGeom>
          <a:solidFill>
            <a:srgbClr val="0B3D62"/>
          </a:solidFill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9916" y="193852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61708" y="1737360"/>
            <a:ext cx="4251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BLoC / Cubit Pattern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7261708" y="2121408"/>
            <a:ext cx="4251960" cy="1051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7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UI dispatches Events → Bloc calls Repository → emits State → BlocBuilder rebuilds only what changed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0868" y="3566160"/>
            <a:ext cx="539496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effectLst>
            <a:outerShdw blurRad="127000" dist="38100" dir="5400000" algn="bl" rotWithShape="0">
              <a:srgbClr val="1B2430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69468" y="3794760"/>
            <a:ext cx="640080" cy="640080"/>
          </a:xfrm>
          <a:prstGeom prst="ellipse">
            <a:avLst/>
          </a:prstGeom>
          <a:solidFill>
            <a:srgbClr val="0B3D62"/>
          </a:solidFill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916" y="3950208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46708" y="3749040"/>
            <a:ext cx="4251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Multi-Layered Caching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546708" y="4133088"/>
            <a:ext cx="4251960" cy="1051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7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In-memory + SharedPreferences keep the app fast and usable offline, refreshing only when data is stale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255868" y="3566160"/>
            <a:ext cx="539496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effectLst>
            <a:outerShdw blurRad="127000" dist="38100" dir="5400000" algn="bl" rotWithShape="0">
              <a:srgbClr val="1B2430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84468" y="3794760"/>
            <a:ext cx="640080" cy="640080"/>
          </a:xfrm>
          <a:prstGeom prst="ellipse">
            <a:avLst/>
          </a:prstGeom>
          <a:solidFill>
            <a:srgbClr val="0B3D62"/>
          </a:solidFill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9916" y="3950208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61708" y="3749040"/>
            <a:ext cx="4251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GetIt Dependency Injection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261708" y="4133088"/>
            <a:ext cx="4251960" cy="10515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7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single shared MainBloc instance serves the Home, History &amp; Profile tabs consistently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11750040" y="6510528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9"/>
                </a:solidFill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ages/pulse_light.png"/>
          <p:cNvPicPr>
            <a:picLocks noChangeAspect="1"/>
          </p:cNvPicPr>
          <p:nvPr/>
        </p:nvPicPr>
        <p:blipFill>
          <a:blip r:embed="rId2">
            <a:alphaModFix amt="90000"/>
          </a:blip>
          <a:stretch>
            <a:fillRect/>
          </a:stretch>
        </p:blipFill>
        <p:spPr>
          <a:xfrm>
            <a:off x="6309360" y="4160520"/>
            <a:ext cx="5486400" cy="10058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1051560"/>
            <a:ext cx="8686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2B8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GRADUATION PROJECT  ·  AI-POWERED CARDIAC SCREENING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-840740" y="3927475"/>
            <a:ext cx="8933180" cy="23196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 System Architecture</a:t>
            </a:r>
            <a:endParaRPr lang="en-US" sz="48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  <a:sym typeface="+mn-ea"/>
            </a:endParaRPr>
          </a:p>
          <a:p>
            <a:pPr marL="0" indent="0" algn="ctr">
              <a:lnSpc>
                <a:spcPct val="108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And Security </a:t>
            </a:r>
            <a:endParaRPr lang="en-US" sz="48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  <a:sym typeface="+mn-ea"/>
            </a:endParaRPr>
          </a:p>
        </p:txBody>
      </p:sp>
      <p:sp>
        <p:nvSpPr>
          <p:cNvPr id="5" name="Text 2"/>
          <p:cNvSpPr/>
          <p:nvPr/>
        </p:nvSpPr>
        <p:spPr>
          <a:xfrm>
            <a:off x="822960" y="3977640"/>
            <a:ext cx="70408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endParaRPr lang="ar-EG" altLang="en-US" sz="4000" b="1" dirty="0">
              <a:solidFill>
                <a:srgbClr val="FFFFFF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  <a:sym typeface="+mn-ea"/>
            </a:endParaRPr>
          </a:p>
        </p:txBody>
      </p:sp>
      <p:sp>
        <p:nvSpPr>
          <p:cNvPr id="6" name="Shape 3"/>
          <p:cNvSpPr/>
          <p:nvPr/>
        </p:nvSpPr>
        <p:spPr>
          <a:xfrm>
            <a:off x="740410" y="7116445"/>
            <a:ext cx="82296" cy="82296"/>
          </a:xfrm>
          <a:prstGeom prst="ellipse">
            <a:avLst/>
          </a:prstGeom>
          <a:solidFill>
            <a:srgbClr val="12B8A8"/>
          </a:solidFill>
        </p:spPr>
      </p:sp>
      <p:sp>
        <p:nvSpPr>
          <p:cNvPr id="8" name="Shape 5"/>
          <p:cNvSpPr/>
          <p:nvPr/>
        </p:nvSpPr>
        <p:spPr>
          <a:xfrm>
            <a:off x="8092440" y="1234440"/>
            <a:ext cx="3291840" cy="3291840"/>
          </a:xfrm>
          <a:prstGeom prst="ellipse">
            <a:avLst/>
          </a:prstGeom>
          <a:solidFill>
            <a:srgbClr val="13527A">
              <a:alpha val="65000"/>
            </a:srgbClr>
          </a:solidFill>
        </p:spPr>
      </p:sp>
      <p:sp>
        <p:nvSpPr>
          <p:cNvPr id="9" name="Shape 6"/>
          <p:cNvSpPr/>
          <p:nvPr/>
        </p:nvSpPr>
        <p:spPr>
          <a:xfrm>
            <a:off x="8549640" y="1691640"/>
            <a:ext cx="2377440" cy="2377440"/>
          </a:xfrm>
          <a:prstGeom prst="ellipse">
            <a:avLst/>
          </a:prstGeom>
          <a:solidFill>
            <a:srgbClr val="0F3D63"/>
          </a:solidFill>
          <a:ln w="15875">
            <a:solidFill>
              <a:srgbClr val="6FD8CB"/>
            </a:solidFill>
            <a:prstDash val="solid"/>
          </a:ln>
          <a:effectLst>
            <a:outerShdw blurRad="228600" dist="76200" dir="5400000" algn="bl" rotWithShape="0">
              <a:srgbClr val="0A2647">
                <a:alpha val="10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0" y="2057400"/>
            <a:ext cx="1645920" cy="164592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87680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5335" dirty="0"/>
          </a:p>
        </p:txBody>
      </p:sp>
      <p:sp>
        <p:nvSpPr>
          <p:cNvPr id="3" name="Shape 1"/>
          <p:cNvSpPr/>
          <p:nvPr/>
        </p:nvSpPr>
        <p:spPr>
          <a:xfrm>
            <a:off x="609600" y="1584960"/>
            <a:ext cx="5486400" cy="1950720"/>
          </a:xfrm>
          <a:prstGeom prst="rect">
            <a:avLst/>
          </a:prstGeom>
          <a:solidFill>
            <a:srgbClr val="E6EEFF"/>
          </a:solidFill>
        </p:spPr>
        <p:txBody>
          <a:bodyPr/>
          <a:lstStyle/>
          <a:p>
            <a:endParaRPr lang="en-US" sz="2400"/>
          </a:p>
        </p:txBody>
      </p:sp>
      <p:sp>
        <p:nvSpPr>
          <p:cNvPr id="5" name="Text 2"/>
          <p:cNvSpPr/>
          <p:nvPr/>
        </p:nvSpPr>
        <p:spPr>
          <a:xfrm>
            <a:off x="1524000" y="1828800"/>
            <a:ext cx="4267200" cy="426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2665" b="1" dirty="0">
                <a:solidFill>
                  <a:srgbClr val="0342C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Frontend</a:t>
            </a:r>
            <a:endParaRPr lang="en-US" sz="2665" b="1" dirty="0">
              <a:solidFill>
                <a:srgbClr val="0342C9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6" name="Text 3"/>
          <p:cNvSpPr/>
          <p:nvPr/>
        </p:nvSpPr>
        <p:spPr>
          <a:xfrm>
            <a:off x="853440" y="2377440"/>
            <a:ext cx="4998720" cy="975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2135" dirty="0">
                <a:solidFill>
                  <a:srgbClr val="4D4D4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Built with </a:t>
            </a:r>
            <a:r>
              <a:rPr lang="en-US" sz="2135" b="1" dirty="0">
                <a:solidFill>
                  <a:srgbClr val="4D4D4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Flutter</a:t>
            </a:r>
            <a:r>
              <a:rPr lang="en-US" sz="2135" dirty="0">
                <a:solidFill>
                  <a:srgbClr val="4D4D4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for a cross-platform, high-performance mobile experience</a:t>
            </a:r>
            <a:endParaRPr lang="en-US" sz="2135" dirty="0">
              <a:solidFill>
                <a:srgbClr val="4D4D4D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6339840" y="1584960"/>
            <a:ext cx="5242560" cy="1950720"/>
          </a:xfrm>
          <a:prstGeom prst="rect">
            <a:avLst/>
          </a:prstGeom>
          <a:solidFill>
            <a:srgbClr val="E6EEFF"/>
          </a:solidFill>
        </p:spPr>
        <p:txBody>
          <a:bodyPr/>
          <a:lstStyle/>
          <a:p>
            <a:endParaRPr lang="en-US" sz="240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1828800"/>
            <a:ext cx="487680" cy="4876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254240" y="1828800"/>
            <a:ext cx="4145280" cy="426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2665" b="1" dirty="0">
                <a:solidFill>
                  <a:srgbClr val="0342C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Backend</a:t>
            </a:r>
            <a:endParaRPr lang="en-US" sz="2665" b="1" dirty="0">
              <a:solidFill>
                <a:srgbClr val="0342C9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6583680" y="2377440"/>
            <a:ext cx="4754880" cy="975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2135" dirty="0">
                <a:solidFill>
                  <a:srgbClr val="4D4D4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Powered by </a:t>
            </a:r>
            <a:r>
              <a:rPr lang="en-US" sz="2135" b="1" dirty="0">
                <a:solidFill>
                  <a:srgbClr val="4D4D4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Node.js</a:t>
            </a:r>
            <a:r>
              <a:rPr lang="en-US" sz="2135" dirty="0">
                <a:solidFill>
                  <a:srgbClr val="4D4D4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, ensuring fast, non-blocking asynchronous processing</a:t>
            </a:r>
            <a:endParaRPr lang="en-US" sz="2135" dirty="0">
              <a:solidFill>
                <a:srgbClr val="4D4D4D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1" name="Shape 7"/>
          <p:cNvSpPr/>
          <p:nvPr/>
        </p:nvSpPr>
        <p:spPr>
          <a:xfrm>
            <a:off x="609600" y="3901440"/>
            <a:ext cx="5486400" cy="1950720"/>
          </a:xfrm>
          <a:prstGeom prst="rect">
            <a:avLst/>
          </a:prstGeom>
          <a:solidFill>
            <a:srgbClr val="E6EEFF"/>
          </a:solidFill>
        </p:spPr>
        <p:txBody>
          <a:bodyPr/>
          <a:lstStyle/>
          <a:p>
            <a:endParaRPr lang="en-US" sz="24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440" y="4145280"/>
            <a:ext cx="487680" cy="4876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524000" y="4145280"/>
            <a:ext cx="4267200" cy="426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2665" b="1" dirty="0">
                <a:solidFill>
                  <a:srgbClr val="0342C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Communication</a:t>
            </a:r>
            <a:endParaRPr lang="en-US" sz="2665" b="1" dirty="0">
              <a:solidFill>
                <a:srgbClr val="0342C9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4" name="Text 9"/>
          <p:cNvSpPr/>
          <p:nvPr/>
        </p:nvSpPr>
        <p:spPr>
          <a:xfrm>
            <a:off x="853440" y="4693920"/>
            <a:ext cx="4998720" cy="975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2135" dirty="0">
                <a:solidFill>
                  <a:srgbClr val="4D4D4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Secured </a:t>
            </a:r>
            <a:r>
              <a:rPr lang="en-US" sz="2135" b="1" dirty="0">
                <a:solidFill>
                  <a:srgbClr val="4D4D4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RESTful APIs </a:t>
            </a:r>
            <a:r>
              <a:rPr lang="en-US" sz="2135" dirty="0">
                <a:solidFill>
                  <a:srgbClr val="4D4D4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 connect the Mobile App with the ML Server</a:t>
            </a:r>
            <a:endParaRPr lang="en-US" sz="2135" dirty="0">
              <a:solidFill>
                <a:srgbClr val="4D4D4D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5" name="Shape 10"/>
          <p:cNvSpPr/>
          <p:nvPr/>
        </p:nvSpPr>
        <p:spPr>
          <a:xfrm>
            <a:off x="6339840" y="3901440"/>
            <a:ext cx="5242560" cy="1950720"/>
          </a:xfrm>
          <a:prstGeom prst="rect">
            <a:avLst/>
          </a:prstGeom>
          <a:solidFill>
            <a:srgbClr val="E6EEFF"/>
          </a:solidFill>
        </p:spPr>
        <p:txBody>
          <a:bodyPr/>
          <a:lstStyle/>
          <a:p>
            <a:endParaRPr lang="en-US" sz="240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440" y="1889760"/>
            <a:ext cx="487680" cy="48768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254240" y="4145280"/>
            <a:ext cx="4145280" cy="426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2665" b="1" dirty="0">
                <a:solidFill>
                  <a:srgbClr val="0342C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Mongo DB</a:t>
            </a:r>
            <a:endParaRPr lang="en-US" sz="2665" b="1" dirty="0">
              <a:solidFill>
                <a:srgbClr val="0342C9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8" name="Text 12"/>
          <p:cNvSpPr/>
          <p:nvPr/>
        </p:nvSpPr>
        <p:spPr>
          <a:xfrm>
            <a:off x="6583680" y="4693920"/>
            <a:ext cx="4754880" cy="975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135" dirty="0">
                <a:solidFill>
                  <a:srgbClr val="4D4D4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Data persistence</a:t>
            </a:r>
            <a:endParaRPr lang="en-US" sz="2135" dirty="0">
              <a:solidFill>
                <a:srgbClr val="4D4D4D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4640" y="4145280"/>
            <a:ext cx="487680" cy="48768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09600" y="379416"/>
            <a:ext cx="13188480" cy="912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335" b="1" dirty="0">
                <a:solidFill>
                  <a:srgbClr val="00081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Technical Stack &amp; System Architecture </a:t>
            </a:r>
            <a:endParaRPr lang="en-US" sz="5335" b="1" dirty="0">
              <a:solidFill>
                <a:srgbClr val="000819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640080" cy="640080"/>
          </a:xfrm>
          <a:prstGeom prst="ellipse">
            <a:avLst/>
          </a:prstGeom>
          <a:solidFill>
            <a:srgbClr val="0B3D62"/>
          </a:solidFill>
        </p:spPr>
      </p:sp>
      <p:pic>
        <p:nvPicPr>
          <p:cNvPr id="3" name="Image 0" descr="icons/server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1218" y="555498"/>
            <a:ext cx="352044" cy="3520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65760"/>
            <a:ext cx="96012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3D6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234440" y="841248"/>
            <a:ext cx="9601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5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 purpose and technology stack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1371600"/>
            <a:ext cx="5577840" cy="475488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77240" y="1600200"/>
            <a:ext cx="493776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E7C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System Purpose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77240" y="2057400"/>
            <a:ext cx="4937760" cy="38404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 algn="l">
              <a:spcAft>
                <a:spcPts val="1200"/>
              </a:spcAft>
              <a:buSzPct val="100000"/>
              <a:buChar char="✦"/>
            </a:pPr>
            <a:r>
              <a:rPr lang="en-US" sz="2000" dirty="0">
                <a:solidFill>
                  <a:srgbClr val="1C2B3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Securely register patients and manage their health records</a:t>
            </a:r>
            <a:endParaRPr lang="en-US" sz="2000" dirty="0"/>
          </a:p>
          <a:p>
            <a:pPr marL="342900" indent="-342900" algn="l">
              <a:spcAft>
                <a:spcPts val="1200"/>
              </a:spcAft>
              <a:buSzPct val="100000"/>
              <a:buChar char="✦"/>
            </a:pPr>
            <a:r>
              <a:rPr lang="en-US" sz="2000" dirty="0">
                <a:solidFill>
                  <a:srgbClr val="1C2B3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Receive health data and forward it to the Flask model for prediction</a:t>
            </a:r>
            <a:endParaRPr lang="en-US" sz="2000" dirty="0"/>
          </a:p>
          <a:p>
            <a:pPr marL="342900" indent="-342900" algn="l">
              <a:spcAft>
                <a:spcPts val="1200"/>
              </a:spcAft>
              <a:buSzPct val="100000"/>
              <a:buChar char="✦"/>
            </a:pPr>
            <a:r>
              <a:rPr lang="en-US" sz="2000" dirty="0">
                <a:solidFill>
                  <a:srgbClr val="1C2B3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Return risk results, sugar and cholesterol levels, and AI analysis</a:t>
            </a:r>
            <a:endParaRPr lang="en-US" sz="2000" dirty="0"/>
          </a:p>
          <a:p>
            <a:pPr marL="342900" indent="-342900" algn="l">
              <a:spcAft>
                <a:spcPts val="1200"/>
              </a:spcAft>
              <a:buSzPct val="100000"/>
              <a:buChar char="✦"/>
            </a:pPr>
            <a:r>
              <a:rPr lang="en-US" sz="2000" dirty="0">
                <a:solidFill>
                  <a:srgbClr val="1C2B3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chat assistant for heart health conversations (Groq / OpenRouter)</a:t>
            </a:r>
            <a:endParaRPr lang="en-US" sz="2000" dirty="0">
              <a:solidFill>
                <a:srgbClr val="1C2B36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6263640" y="1371600"/>
            <a:ext cx="5440680" cy="4754880"/>
          </a:xfrm>
          <a:prstGeom prst="roundRect">
            <a:avLst>
              <a:gd name="adj" fmla="val 1538"/>
            </a:avLst>
          </a:prstGeom>
          <a:solidFill>
            <a:srgbClr val="0B3D62"/>
          </a:solidFill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583680" y="1600200"/>
            <a:ext cx="4846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Tech Stack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583680" y="2103120"/>
            <a:ext cx="192024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9FCFC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Runtime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8595360" y="2103120"/>
            <a:ext cx="28803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Node.js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6583680" y="2606040"/>
            <a:ext cx="192024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9FCFC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Framework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8595360" y="2606040"/>
            <a:ext cx="28803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Express.js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6583680" y="3108960"/>
            <a:ext cx="192024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9FCFC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Database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8595360" y="3108960"/>
            <a:ext cx="28803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MongoDB (Mongoose)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6583680" y="3611880"/>
            <a:ext cx="192024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9FCFC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Auth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8595360" y="3611880"/>
            <a:ext cx="28803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JWT + bcryptjs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6583680" y="4114800"/>
            <a:ext cx="192024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9FCFC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ML Integration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8595360" y="4114800"/>
            <a:ext cx="28803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Flask REST API (Python)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6583680" y="4617720"/>
            <a:ext cx="192024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9FCFC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Chat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8595360" y="4617720"/>
            <a:ext cx="28803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Groq (LLaMA 3) + OpenRouter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6583680" y="5120640"/>
            <a:ext cx="192024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9FCFC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Logging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8595360" y="5120640"/>
            <a:ext cx="28803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Winston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6583680" y="5623560"/>
            <a:ext cx="192024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9FCFC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Validation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8595360" y="5623560"/>
            <a:ext cx="288036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express-validator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EchoHealth — Backend &amp; Security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640080" cy="640080"/>
          </a:xfrm>
          <a:prstGeom prst="ellipse">
            <a:avLst/>
          </a:prstGeom>
          <a:solidFill>
            <a:srgbClr val="0B3D62"/>
          </a:solidFill>
        </p:spPr>
      </p:sp>
      <p:pic>
        <p:nvPicPr>
          <p:cNvPr id="3" name="Image 0" descr="icons/layerGroup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1218" y="555498"/>
            <a:ext cx="352044" cy="3520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65760"/>
            <a:ext cx="96012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3D6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Project Architecture (MVC)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234440" y="841248"/>
            <a:ext cx="9601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5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Clear separation of layers for easy maintenance and scaling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141732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246120" y="1645920"/>
            <a:ext cx="502920" cy="502920"/>
          </a:xfrm>
          <a:prstGeom prst="ellipse">
            <a:avLst/>
          </a:prstGeom>
          <a:solidFill>
            <a:srgbClr val="0E7C7B"/>
          </a:solidFill>
        </p:spPr>
      </p:sp>
      <p:pic>
        <p:nvPicPr>
          <p:cNvPr id="8" name="Image 1" descr="icons/route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9277" y="1759077"/>
            <a:ext cx="276606" cy="27660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85800" y="1645920"/>
            <a:ext cx="2560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B3D6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Routes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685800" y="2103120"/>
            <a:ext cx="3108960" cy="1143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5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Defines endpoints (auth, patient, healthData, chat)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4251960" y="141732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7040880" y="1645920"/>
            <a:ext cx="502920" cy="502920"/>
          </a:xfrm>
          <a:prstGeom prst="ellipse">
            <a:avLst/>
          </a:prstGeom>
          <a:solidFill>
            <a:srgbClr val="0E7C7B"/>
          </a:solidFill>
        </p:spPr>
      </p:sp>
      <p:pic>
        <p:nvPicPr>
          <p:cNvPr id="13" name="Image 2" descr="icons/cog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4037" y="1759077"/>
            <a:ext cx="276606" cy="27660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480560" y="1645920"/>
            <a:ext cx="2560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B3D6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Middleware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4480560" y="2103120"/>
            <a:ext cx="3108960" cy="1143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5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JWT verification, rate limiters, slow-down, validation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8046720" y="141732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10835640" y="1645920"/>
            <a:ext cx="502920" cy="502920"/>
          </a:xfrm>
          <a:prstGeom prst="ellipse">
            <a:avLst/>
          </a:prstGeom>
          <a:solidFill>
            <a:srgbClr val="0E7C7B"/>
          </a:solidFill>
        </p:spPr>
      </p:sp>
      <p:pic>
        <p:nvPicPr>
          <p:cNvPr id="18" name="Image 3" descr="icons/codeBranch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48797" y="1759077"/>
            <a:ext cx="276606" cy="27660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275320" y="1645920"/>
            <a:ext cx="2560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B3D6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Controllers</a:t>
            </a:r>
            <a:endParaRPr lang="en-US" sz="1500" dirty="0"/>
          </a:p>
        </p:txBody>
      </p:sp>
      <p:sp>
        <p:nvSpPr>
          <p:cNvPr id="20" name="Text 14"/>
          <p:cNvSpPr/>
          <p:nvPr/>
        </p:nvSpPr>
        <p:spPr>
          <a:xfrm>
            <a:off x="8275320" y="2103120"/>
            <a:ext cx="3108960" cy="1143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5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Business logic: registration, profile update, health data submission, chat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457200" y="361188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3246120" y="3840480"/>
            <a:ext cx="502920" cy="502920"/>
          </a:xfrm>
          <a:prstGeom prst="ellipse">
            <a:avLst/>
          </a:prstGeom>
          <a:solidFill>
            <a:srgbClr val="0E7C7B"/>
          </a:solidFill>
        </p:spPr>
      </p:sp>
      <p:pic>
        <p:nvPicPr>
          <p:cNvPr id="23" name="Image 4" descr="icons/databas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59277" y="3953637"/>
            <a:ext cx="276606" cy="27660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85800" y="3840480"/>
            <a:ext cx="2560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B3D6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Models</a:t>
            </a:r>
            <a:endParaRPr lang="en-US" sz="1500" dirty="0"/>
          </a:p>
        </p:txBody>
      </p:sp>
      <p:sp>
        <p:nvSpPr>
          <p:cNvPr id="25" name="Text 18"/>
          <p:cNvSpPr/>
          <p:nvPr/>
        </p:nvSpPr>
        <p:spPr>
          <a:xfrm>
            <a:off x="685800" y="4297680"/>
            <a:ext cx="3108960" cy="1143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5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Patient (data + account protection), HealthData (prediction results)</a:t>
            </a:r>
            <a:endParaRPr lang="en-US" sz="1150" dirty="0"/>
          </a:p>
        </p:txBody>
      </p:sp>
      <p:sp>
        <p:nvSpPr>
          <p:cNvPr id="26" name="Shape 19"/>
          <p:cNvSpPr/>
          <p:nvPr/>
        </p:nvSpPr>
        <p:spPr>
          <a:xfrm>
            <a:off x="4251960" y="361188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7040880" y="3840480"/>
            <a:ext cx="502920" cy="502920"/>
          </a:xfrm>
          <a:prstGeom prst="ellipse">
            <a:avLst/>
          </a:prstGeom>
          <a:solidFill>
            <a:srgbClr val="0E7C7B"/>
          </a:solidFill>
        </p:spPr>
      </p:sp>
      <p:pic>
        <p:nvPicPr>
          <p:cNvPr id="28" name="Image 5" descr="icons/clipboard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54037" y="3953637"/>
            <a:ext cx="276606" cy="276606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4480560" y="3840480"/>
            <a:ext cx="2560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B3D6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Validators</a:t>
            </a:r>
            <a:endParaRPr lang="en-US" sz="1500" dirty="0"/>
          </a:p>
        </p:txBody>
      </p:sp>
      <p:sp>
        <p:nvSpPr>
          <p:cNvPr id="30" name="Text 22"/>
          <p:cNvSpPr/>
          <p:nvPr/>
        </p:nvSpPr>
        <p:spPr>
          <a:xfrm>
            <a:off x="4480560" y="4297680"/>
            <a:ext cx="3108960" cy="1143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5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express-validator: length, regex, enums, numeric ranges</a:t>
            </a:r>
            <a:endParaRPr lang="en-US" sz="1150" dirty="0"/>
          </a:p>
        </p:txBody>
      </p:sp>
      <p:sp>
        <p:nvSpPr>
          <p:cNvPr id="31" name="Shape 23"/>
          <p:cNvSpPr/>
          <p:nvPr/>
        </p:nvSpPr>
        <p:spPr>
          <a:xfrm>
            <a:off x="8046720" y="3611880"/>
            <a:ext cx="35661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Shape 24"/>
          <p:cNvSpPr/>
          <p:nvPr/>
        </p:nvSpPr>
        <p:spPr>
          <a:xfrm>
            <a:off x="10835640" y="3840480"/>
            <a:ext cx="502920" cy="502920"/>
          </a:xfrm>
          <a:prstGeom prst="ellipse">
            <a:avLst/>
          </a:prstGeom>
          <a:solidFill>
            <a:srgbClr val="0E7C7B"/>
          </a:solidFill>
        </p:spPr>
      </p:sp>
      <p:pic>
        <p:nvPicPr>
          <p:cNvPr id="33" name="Image 6" descr="icons/chart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48797" y="3953637"/>
            <a:ext cx="276606" cy="276606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8275320" y="3840480"/>
            <a:ext cx="2560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B3D6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Utils</a:t>
            </a:r>
            <a:endParaRPr lang="en-US" sz="1500" dirty="0"/>
          </a:p>
        </p:txBody>
      </p:sp>
      <p:sp>
        <p:nvSpPr>
          <p:cNvPr id="35" name="Text 26"/>
          <p:cNvSpPr/>
          <p:nvPr/>
        </p:nvSpPr>
        <p:spPr>
          <a:xfrm>
            <a:off x="8275320" y="4297680"/>
            <a:ext cx="3108960" cy="1143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5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Winston logger and a unified responseHandler for responses</a:t>
            </a:r>
            <a:endParaRPr lang="en-US" sz="1150" dirty="0"/>
          </a:p>
        </p:txBody>
      </p:sp>
      <p:sp>
        <p:nvSpPr>
          <p:cNvPr id="36" name="Text 27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EchoHealth — Backend &amp; Security</a:t>
            </a:r>
            <a:endParaRPr lang="en-US" sz="900" dirty="0"/>
          </a:p>
        </p:txBody>
      </p:sp>
      <p:sp>
        <p:nvSpPr>
          <p:cNvPr id="37" name="Text 28"/>
          <p:cNvSpPr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640080" cy="640080"/>
          </a:xfrm>
          <a:prstGeom prst="ellipse">
            <a:avLst/>
          </a:prstGeom>
          <a:solidFill>
            <a:srgbClr val="0B3D62"/>
          </a:solidFill>
        </p:spPr>
      </p:sp>
      <p:pic>
        <p:nvPicPr>
          <p:cNvPr id="3" name="Image 0" descr="icons/route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1218" y="555498"/>
            <a:ext cx="352044" cy="3520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65760"/>
            <a:ext cx="96012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3D6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Key API Endpoints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234440" y="841248"/>
            <a:ext cx="9601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5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Base URL: http://localhost:5001 — all responses are JSON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1463040"/>
            <a:ext cx="2697480" cy="4480560"/>
          </a:xfrm>
          <a:prstGeom prst="roundRect">
            <a:avLst>
              <a:gd name="adj" fmla="val 3051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1463040"/>
            <a:ext cx="2697480" cy="960120"/>
          </a:xfrm>
          <a:prstGeom prst="rect">
            <a:avLst/>
          </a:prstGeom>
          <a:solidFill>
            <a:srgbClr val="0B3D62"/>
          </a:solidFill>
        </p:spPr>
      </p:sp>
      <p:sp>
        <p:nvSpPr>
          <p:cNvPr id="8" name="Shape 5"/>
          <p:cNvSpPr/>
          <p:nvPr/>
        </p:nvSpPr>
        <p:spPr>
          <a:xfrm>
            <a:off x="1531620" y="1627632"/>
            <a:ext cx="548640" cy="548640"/>
          </a:xfrm>
          <a:prstGeom prst="ellipse">
            <a:avLst/>
          </a:prstGeom>
          <a:solidFill>
            <a:srgbClr val="0E7C7B"/>
          </a:solidFill>
        </p:spPr>
      </p:sp>
      <p:pic>
        <p:nvPicPr>
          <p:cNvPr id="9" name="Image 1" descr="icons/key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5064" y="1751076"/>
            <a:ext cx="301752" cy="30175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8640" y="2514600"/>
            <a:ext cx="2514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B3D6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Authentication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640080" y="2971800"/>
            <a:ext cx="2331720" cy="2788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spcAft>
                <a:spcPts val="1000"/>
              </a:spcAft>
              <a:buNone/>
            </a:pPr>
            <a:r>
              <a:rPr lang="en-US" sz="1050" dirty="0">
                <a:solidFill>
                  <a:srgbClr val="1C2B3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POST /api/auth/register</a:t>
            </a:r>
            <a:endParaRPr lang="en-US" sz="1050" dirty="0"/>
          </a:p>
          <a:p>
            <a:pPr marL="0" indent="0" algn="ctr">
              <a:spcAft>
                <a:spcPts val="1000"/>
              </a:spcAft>
              <a:buNone/>
            </a:pPr>
            <a:r>
              <a:rPr lang="en-US" sz="1050" dirty="0">
                <a:solidFill>
                  <a:srgbClr val="1C2B3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POST /api/auth/login</a:t>
            </a:r>
            <a:endParaRPr lang="en-US" sz="1050" dirty="0"/>
          </a:p>
          <a:p>
            <a:pPr marL="0" indent="0" algn="ctr">
              <a:spcAft>
                <a:spcPts val="1000"/>
              </a:spcAft>
              <a:buNone/>
            </a:pPr>
            <a:r>
              <a:rPr lang="en-US" sz="1050" dirty="0">
                <a:solidFill>
                  <a:srgbClr val="1C2B3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POST /api/auth/refresh</a:t>
            </a:r>
            <a:endParaRPr lang="en-US" sz="1050" dirty="0"/>
          </a:p>
          <a:p>
            <a:pPr marL="0" indent="0" algn="ctr">
              <a:spcAft>
                <a:spcPts val="1000"/>
              </a:spcAft>
              <a:buNone/>
            </a:pPr>
            <a:r>
              <a:rPr lang="en-US" sz="1050" dirty="0">
                <a:solidFill>
                  <a:srgbClr val="1C2B3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POST /api/auth/logout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3337560" y="1463040"/>
            <a:ext cx="2697480" cy="4480560"/>
          </a:xfrm>
          <a:prstGeom prst="roundRect">
            <a:avLst>
              <a:gd name="adj" fmla="val 3051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337560" y="1463040"/>
            <a:ext cx="2697480" cy="960120"/>
          </a:xfrm>
          <a:prstGeom prst="rect">
            <a:avLst/>
          </a:prstGeom>
          <a:solidFill>
            <a:srgbClr val="0B3D62"/>
          </a:solidFill>
        </p:spPr>
      </p:sp>
      <p:sp>
        <p:nvSpPr>
          <p:cNvPr id="14" name="Shape 10"/>
          <p:cNvSpPr/>
          <p:nvPr/>
        </p:nvSpPr>
        <p:spPr>
          <a:xfrm>
            <a:off x="4411980" y="1627632"/>
            <a:ext cx="548640" cy="548640"/>
          </a:xfrm>
          <a:prstGeom prst="ellipse">
            <a:avLst/>
          </a:prstGeom>
          <a:solidFill>
            <a:srgbClr val="0E7C7B"/>
          </a:solidFill>
        </p:spPr>
      </p:sp>
      <p:pic>
        <p:nvPicPr>
          <p:cNvPr id="15" name="Image 2" descr="icons/userMd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5424" y="1751076"/>
            <a:ext cx="301752" cy="30175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429000" y="2514600"/>
            <a:ext cx="2514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B3D6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Patient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3520440" y="2971800"/>
            <a:ext cx="2331720" cy="2788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spcAft>
                <a:spcPts val="1000"/>
              </a:spcAft>
              <a:buNone/>
            </a:pPr>
            <a:r>
              <a:rPr lang="en-US" sz="1050" dirty="0">
                <a:solidFill>
                  <a:srgbClr val="1C2B3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GET /api/patient/profile</a:t>
            </a:r>
            <a:endParaRPr lang="en-US" sz="1050" dirty="0"/>
          </a:p>
          <a:p>
            <a:pPr marL="0" indent="0" algn="ctr">
              <a:spcAft>
                <a:spcPts val="1000"/>
              </a:spcAft>
              <a:buNone/>
            </a:pPr>
            <a:r>
              <a:rPr lang="en-US" sz="1050" dirty="0">
                <a:solidFill>
                  <a:srgbClr val="1C2B3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PUT /api/patient/profile (whitelist)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6217920" y="1463040"/>
            <a:ext cx="2697480" cy="4480560"/>
          </a:xfrm>
          <a:prstGeom prst="roundRect">
            <a:avLst>
              <a:gd name="adj" fmla="val 3051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217920" y="1463040"/>
            <a:ext cx="2697480" cy="960120"/>
          </a:xfrm>
          <a:prstGeom prst="rect">
            <a:avLst/>
          </a:prstGeom>
          <a:solidFill>
            <a:srgbClr val="0B3D62"/>
          </a:solidFill>
        </p:spPr>
      </p:sp>
      <p:sp>
        <p:nvSpPr>
          <p:cNvPr id="20" name="Shape 15"/>
          <p:cNvSpPr/>
          <p:nvPr/>
        </p:nvSpPr>
        <p:spPr>
          <a:xfrm>
            <a:off x="7292340" y="1627632"/>
            <a:ext cx="548640" cy="548640"/>
          </a:xfrm>
          <a:prstGeom prst="ellipse">
            <a:avLst/>
          </a:prstGeom>
          <a:solidFill>
            <a:srgbClr val="0E7C7B"/>
          </a:solidFill>
        </p:spPr>
      </p:sp>
      <p:pic>
        <p:nvPicPr>
          <p:cNvPr id="21" name="Image 3" descr="icons/heartbeat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5784" y="1751076"/>
            <a:ext cx="301752" cy="30175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309360" y="2514600"/>
            <a:ext cx="2514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B3D6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Health Data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6400800" y="2971800"/>
            <a:ext cx="2331720" cy="2788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spcAft>
                <a:spcPts val="1000"/>
              </a:spcAft>
              <a:buNone/>
            </a:pPr>
            <a:r>
              <a:rPr lang="en-US" sz="1050" dirty="0">
                <a:solidFill>
                  <a:srgbClr val="1C2B3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POST /api/health-data/submit</a:t>
            </a:r>
            <a:endParaRPr lang="en-US" sz="1050" dirty="0"/>
          </a:p>
          <a:p>
            <a:pPr marL="0" indent="0" algn="ctr">
              <a:spcAft>
                <a:spcPts val="1000"/>
              </a:spcAft>
              <a:buNone/>
            </a:pPr>
            <a:r>
              <a:rPr lang="en-US" sz="1050" dirty="0">
                <a:solidFill>
                  <a:srgbClr val="1C2B3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25 fields → Flask ML → Prediction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9098280" y="1463040"/>
            <a:ext cx="2697480" cy="4480560"/>
          </a:xfrm>
          <a:prstGeom prst="roundRect">
            <a:avLst>
              <a:gd name="adj" fmla="val 3051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9098280" y="1463040"/>
            <a:ext cx="2697480" cy="960120"/>
          </a:xfrm>
          <a:prstGeom prst="rect">
            <a:avLst/>
          </a:prstGeom>
          <a:solidFill>
            <a:srgbClr val="0B3D62"/>
          </a:solidFill>
        </p:spPr>
      </p:sp>
      <p:sp>
        <p:nvSpPr>
          <p:cNvPr id="26" name="Shape 20"/>
          <p:cNvSpPr/>
          <p:nvPr/>
        </p:nvSpPr>
        <p:spPr>
          <a:xfrm>
            <a:off x="10172700" y="1627632"/>
            <a:ext cx="548640" cy="548640"/>
          </a:xfrm>
          <a:prstGeom prst="ellipse">
            <a:avLst/>
          </a:prstGeom>
          <a:solidFill>
            <a:srgbClr val="0E7C7B"/>
          </a:solidFill>
        </p:spPr>
      </p:sp>
      <p:pic>
        <p:nvPicPr>
          <p:cNvPr id="27" name="Image 4" descr="icons/comments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96144" y="1751076"/>
            <a:ext cx="301752" cy="30175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9189720" y="2514600"/>
            <a:ext cx="2514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B3D6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Chat Assistant</a:t>
            </a:r>
            <a:endParaRPr lang="en-US" sz="1450" dirty="0"/>
          </a:p>
        </p:txBody>
      </p:sp>
      <p:sp>
        <p:nvSpPr>
          <p:cNvPr id="29" name="Text 22"/>
          <p:cNvSpPr/>
          <p:nvPr/>
        </p:nvSpPr>
        <p:spPr>
          <a:xfrm>
            <a:off x="9281160" y="2971800"/>
            <a:ext cx="2331720" cy="2788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spcAft>
                <a:spcPts val="1000"/>
              </a:spcAft>
              <a:buNone/>
            </a:pPr>
            <a:r>
              <a:rPr lang="en-US" sz="1050" dirty="0">
                <a:solidFill>
                  <a:srgbClr val="1C2B3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POST /api/chat/message</a:t>
            </a:r>
            <a:endParaRPr lang="en-US" sz="1050" dirty="0"/>
          </a:p>
          <a:p>
            <a:pPr marL="0" indent="0" algn="ctr">
              <a:spcAft>
                <a:spcPts val="1000"/>
              </a:spcAft>
              <a:buNone/>
            </a:pPr>
            <a:r>
              <a:rPr lang="en-US" sz="1050" dirty="0">
                <a:solidFill>
                  <a:srgbClr val="1C2B36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Text or image/medical report (Vision)</a:t>
            </a:r>
            <a:endParaRPr lang="en-US" sz="1050" dirty="0"/>
          </a:p>
        </p:txBody>
      </p:sp>
      <p:sp>
        <p:nvSpPr>
          <p:cNvPr id="30" name="Text 23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EchoHealth — Backend &amp; Security</a:t>
            </a:r>
            <a:endParaRPr lang="en-US" sz="900" dirty="0"/>
          </a:p>
        </p:txBody>
      </p:sp>
      <p:sp>
        <p:nvSpPr>
          <p:cNvPr id="31" name="Text 24"/>
          <p:cNvSpPr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640080" cy="640080"/>
          </a:xfrm>
          <a:prstGeom prst="ellipse">
            <a:avLst/>
          </a:prstGeom>
          <a:solidFill>
            <a:srgbClr val="0B3D62"/>
          </a:solidFill>
        </p:spPr>
      </p:sp>
      <p:pic>
        <p:nvPicPr>
          <p:cNvPr id="3" name="Image 0" descr="icons/database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1218" y="555498"/>
            <a:ext cx="352044" cy="3520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65760"/>
            <a:ext cx="96012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3D6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Data Models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234440" y="841248"/>
            <a:ext cx="9601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5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Patient and HealthData in MongoDB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1417320"/>
            <a:ext cx="5577840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77240" y="1691640"/>
            <a:ext cx="502920" cy="502920"/>
          </a:xfrm>
          <a:prstGeom prst="ellipse">
            <a:avLst/>
          </a:prstGeom>
          <a:solidFill>
            <a:srgbClr val="0B3D62"/>
          </a:solidFill>
        </p:spPr>
      </p:sp>
      <p:pic>
        <p:nvPicPr>
          <p:cNvPr id="8" name="Image 1" descr="icons/userShield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397" y="1804797"/>
            <a:ext cx="276606" cy="27660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17320" y="1691640"/>
            <a:ext cx="44805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B3D6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Patient Model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777240" y="2331720"/>
            <a:ext cx="4937760" cy="35661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 algn="l">
              <a:spcAft>
                <a:spcPts val="1200"/>
              </a:spcAft>
              <a:buSzPct val="100000"/>
              <a:buChar char="✦"/>
            </a:pPr>
            <a:r>
              <a:rPr lang="en-US" sz="1250" dirty="0">
                <a:solidFill>
                  <a:srgbClr val="1C2B3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password: bcrypt hash (cost 12) — always select: false</a:t>
            </a:r>
            <a:endParaRPr lang="en-US" sz="1250" dirty="0"/>
          </a:p>
          <a:p>
            <a:pPr marL="342900" indent="-342900" algn="l">
              <a:spcAft>
                <a:spcPts val="1200"/>
              </a:spcAft>
              <a:buSzPct val="100000"/>
              <a:buChar char="✦"/>
            </a:pPr>
            <a:r>
              <a:rPr lang="en-US" sz="1250" dirty="0">
                <a:solidFill>
                  <a:srgbClr val="1C2B3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role: patient / admin (Enum, automatic)</a:t>
            </a:r>
            <a:endParaRPr lang="en-US" sz="1250" dirty="0"/>
          </a:p>
          <a:p>
            <a:pPr marL="342900" indent="-342900" algn="l">
              <a:spcAft>
                <a:spcPts val="1200"/>
              </a:spcAft>
              <a:buSzPct val="100000"/>
              <a:buChar char="✦"/>
            </a:pPr>
            <a:r>
              <a:rPr lang="en-US" sz="1250" dirty="0">
                <a:solidFill>
                  <a:srgbClr val="1C2B3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loginAttempts + lockUntil for automatic lockout protection</a:t>
            </a:r>
            <a:endParaRPr lang="en-US" sz="1250" dirty="0"/>
          </a:p>
          <a:p>
            <a:pPr marL="342900" indent="-342900" algn="l">
              <a:spcAft>
                <a:spcPts val="1200"/>
              </a:spcAft>
              <a:buSzPct val="100000"/>
              <a:buChar char="✦"/>
            </a:pPr>
            <a:r>
              <a:rPr lang="en-US" sz="1250" dirty="0">
                <a:solidFill>
                  <a:srgbClr val="1C2B3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refreshToken stored encrypted to enable true logout</a:t>
            </a:r>
            <a:endParaRPr lang="en-US" sz="1250" dirty="0"/>
          </a:p>
          <a:p>
            <a:pPr marL="342900" indent="-342900" algn="l">
              <a:spcAft>
                <a:spcPts val="1200"/>
              </a:spcAft>
              <a:buSzPct val="100000"/>
              <a:buChar char="✦"/>
            </a:pPr>
            <a:r>
              <a:rPr lang="en-US" sz="1250" dirty="0">
                <a:solidFill>
                  <a:srgbClr val="1C2B3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passwordChangedAt to invalidate old tokens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6263640" y="1417320"/>
            <a:ext cx="5440680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583680" y="1691640"/>
            <a:ext cx="502920" cy="502920"/>
          </a:xfrm>
          <a:prstGeom prst="ellipse">
            <a:avLst/>
          </a:prstGeom>
          <a:solidFill>
            <a:srgbClr val="0E7C7B"/>
          </a:solidFill>
        </p:spPr>
      </p:sp>
      <p:pic>
        <p:nvPicPr>
          <p:cNvPr id="13" name="Image 2" descr="icons/char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6837" y="1804797"/>
            <a:ext cx="276606" cy="27660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223760" y="1691640"/>
            <a:ext cx="43891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B3D6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HealthData Model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6583680" y="2331720"/>
            <a:ext cx="4846320" cy="35661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 algn="l">
              <a:spcAft>
                <a:spcPts val="1200"/>
              </a:spcAft>
              <a:buSzPct val="100000"/>
              <a:buChar char="✦"/>
            </a:pPr>
            <a:r>
              <a:rPr lang="en-US" sz="1250" dirty="0">
                <a:solidFill>
                  <a:srgbClr val="1C2B3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25 input fields + min/max constraints at the database level (e.g. BMI 10-80)</a:t>
            </a:r>
            <a:endParaRPr lang="en-US" sz="1250" dirty="0"/>
          </a:p>
          <a:p>
            <a:pPr marL="342900" indent="-342900" algn="l">
              <a:spcAft>
                <a:spcPts val="1200"/>
              </a:spcAft>
              <a:buSzPct val="100000"/>
              <a:buChar char="✦"/>
            </a:pPr>
            <a:r>
              <a:rPr lang="en-US" sz="1250" dirty="0">
                <a:solidFill>
                  <a:srgbClr val="1C2B3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Binary fields (yes/no) enforced as strict Enums</a:t>
            </a:r>
            <a:endParaRPr lang="en-US" sz="1250" dirty="0"/>
          </a:p>
          <a:p>
            <a:pPr marL="342900" indent="-342900" algn="l">
              <a:spcAft>
                <a:spcPts val="1200"/>
              </a:spcAft>
              <a:buSzPct val="100000"/>
              <a:buChar char="✦"/>
            </a:pPr>
            <a:r>
              <a:rPr lang="en-US" sz="1250" dirty="0">
                <a:solidFill>
                  <a:srgbClr val="1C2B3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aiAnalysis: summary, risk_factors, recommendations, lifestyle_tips…</a:t>
            </a:r>
            <a:endParaRPr lang="en-US" sz="1250" dirty="0"/>
          </a:p>
          <a:p>
            <a:pPr marL="342900" indent="-342900" algn="l">
              <a:spcAft>
                <a:spcPts val="1200"/>
              </a:spcAft>
              <a:buSzPct val="100000"/>
              <a:buChar char="✦"/>
            </a:pPr>
            <a:r>
              <a:rPr lang="en-US" sz="1250" dirty="0">
                <a:solidFill>
                  <a:srgbClr val="1C2B3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Compound Index on (patient, createdAt) for fast record retrieval</a:t>
            </a:r>
            <a:endParaRPr lang="en-US" sz="1250" dirty="0"/>
          </a:p>
        </p:txBody>
      </p:sp>
      <p:sp>
        <p:nvSpPr>
          <p:cNvPr id="16" name="Text 11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EchoHealth — Backend &amp; Security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640080" cy="640080"/>
          </a:xfrm>
          <a:prstGeom prst="ellipse">
            <a:avLst/>
          </a:prstGeom>
          <a:solidFill>
            <a:srgbClr val="0E7C7B"/>
          </a:solidFill>
        </p:spPr>
      </p:sp>
      <p:pic>
        <p:nvPicPr>
          <p:cNvPr id="3" name="Image 0" descr="icons/shield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1218" y="555498"/>
            <a:ext cx="352044" cy="3520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65760"/>
            <a:ext cx="96012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Security Architecture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234440" y="841248"/>
            <a:ext cx="9601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9FB8D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 independent protection layers before any request reaches Controller logic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1463040"/>
            <a:ext cx="237744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600" b="1" dirty="0">
                <a:solidFill>
                  <a:srgbClr val="E63946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16</a:t>
            </a:r>
            <a:endParaRPr lang="en-US" sz="6600" dirty="0"/>
          </a:p>
        </p:txBody>
      </p:sp>
      <p:sp>
        <p:nvSpPr>
          <p:cNvPr id="7" name="Text 4"/>
          <p:cNvSpPr/>
          <p:nvPr/>
        </p:nvSpPr>
        <p:spPr>
          <a:xfrm>
            <a:off x="457200" y="2606040"/>
            <a:ext cx="23774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Security Layers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063240" y="1463040"/>
            <a:ext cx="2075688" cy="932688"/>
          </a:xfrm>
          <a:prstGeom prst="roundRect">
            <a:avLst>
              <a:gd name="adj" fmla="val 5882"/>
            </a:avLst>
          </a:prstGeom>
          <a:solidFill>
            <a:srgbClr val="12466E"/>
          </a:solidFill>
        </p:spPr>
      </p:sp>
      <p:sp>
        <p:nvSpPr>
          <p:cNvPr id="9" name="Text 6"/>
          <p:cNvSpPr/>
          <p:nvPr/>
        </p:nvSpPr>
        <p:spPr>
          <a:xfrm>
            <a:off x="3154680" y="1536192"/>
            <a:ext cx="1892808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2B13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Helmet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154680" y="1865376"/>
            <a:ext cx="1892808" cy="47548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D7E4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15+ HTTP security headers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248656" y="1463040"/>
            <a:ext cx="2075688" cy="932688"/>
          </a:xfrm>
          <a:prstGeom prst="roundRect">
            <a:avLst>
              <a:gd name="adj" fmla="val 5882"/>
            </a:avLst>
          </a:prstGeom>
          <a:solidFill>
            <a:srgbClr val="12466E"/>
          </a:solidFill>
        </p:spPr>
      </p:sp>
      <p:sp>
        <p:nvSpPr>
          <p:cNvPr id="12" name="Text 9"/>
          <p:cNvSpPr/>
          <p:nvPr/>
        </p:nvSpPr>
        <p:spPr>
          <a:xfrm>
            <a:off x="5340096" y="1536192"/>
            <a:ext cx="1892808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2B13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340096" y="1865376"/>
            <a:ext cx="1892808" cy="47548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D7E4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Whitelist of ALLOWED_ORIGINS only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7434072" y="1463040"/>
            <a:ext cx="2075688" cy="932688"/>
          </a:xfrm>
          <a:prstGeom prst="roundRect">
            <a:avLst>
              <a:gd name="adj" fmla="val 5882"/>
            </a:avLst>
          </a:prstGeom>
          <a:solidFill>
            <a:srgbClr val="12466E"/>
          </a:solidFill>
        </p:spPr>
      </p:sp>
      <p:sp>
        <p:nvSpPr>
          <p:cNvPr id="15" name="Text 12"/>
          <p:cNvSpPr/>
          <p:nvPr/>
        </p:nvSpPr>
        <p:spPr>
          <a:xfrm>
            <a:off x="7525512" y="1536192"/>
            <a:ext cx="1892808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2B13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Content-Type Check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525512" y="1865376"/>
            <a:ext cx="1892808" cy="47548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D7E4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Rejects anything other than application/json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9619488" y="1463040"/>
            <a:ext cx="2075688" cy="932688"/>
          </a:xfrm>
          <a:prstGeom prst="roundRect">
            <a:avLst>
              <a:gd name="adj" fmla="val 5882"/>
            </a:avLst>
          </a:prstGeom>
          <a:solidFill>
            <a:srgbClr val="12466E"/>
          </a:solidFill>
        </p:spPr>
      </p:sp>
      <p:sp>
        <p:nvSpPr>
          <p:cNvPr id="18" name="Text 15"/>
          <p:cNvSpPr/>
          <p:nvPr/>
        </p:nvSpPr>
        <p:spPr>
          <a:xfrm>
            <a:off x="9710928" y="1536192"/>
            <a:ext cx="1892808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2B13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Mongo-Sanitize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9710928" y="1865376"/>
            <a:ext cx="1892808" cy="47548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D7E4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Prevents NoSQL Injection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3063240" y="2514600"/>
            <a:ext cx="2075688" cy="932688"/>
          </a:xfrm>
          <a:prstGeom prst="roundRect">
            <a:avLst>
              <a:gd name="adj" fmla="val 5882"/>
            </a:avLst>
          </a:prstGeom>
          <a:solidFill>
            <a:srgbClr val="12466E"/>
          </a:solidFill>
        </p:spPr>
      </p:sp>
      <p:sp>
        <p:nvSpPr>
          <p:cNvPr id="21" name="Text 18"/>
          <p:cNvSpPr/>
          <p:nvPr/>
        </p:nvSpPr>
        <p:spPr>
          <a:xfrm>
            <a:off x="3154680" y="2587752"/>
            <a:ext cx="1892808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2B13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XSS Filters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3154680" y="2916936"/>
            <a:ext cx="1892808" cy="47548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D7E4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Sanitizes HTML/Script from inputs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5248656" y="2514600"/>
            <a:ext cx="2075688" cy="932688"/>
          </a:xfrm>
          <a:prstGeom prst="roundRect">
            <a:avLst>
              <a:gd name="adj" fmla="val 5882"/>
            </a:avLst>
          </a:prstGeom>
          <a:solidFill>
            <a:srgbClr val="12466E"/>
          </a:solidFill>
        </p:spPr>
      </p:sp>
      <p:sp>
        <p:nvSpPr>
          <p:cNvPr id="24" name="Text 21"/>
          <p:cNvSpPr/>
          <p:nvPr/>
        </p:nvSpPr>
        <p:spPr>
          <a:xfrm>
            <a:off x="5340096" y="2587752"/>
            <a:ext cx="1892808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2B13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HPP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5340096" y="2916936"/>
            <a:ext cx="1892808" cy="47548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D7E4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Prevents duplicate query params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7434072" y="2514600"/>
            <a:ext cx="2075688" cy="932688"/>
          </a:xfrm>
          <a:prstGeom prst="roundRect">
            <a:avLst>
              <a:gd name="adj" fmla="val 5882"/>
            </a:avLst>
          </a:prstGeom>
          <a:solidFill>
            <a:srgbClr val="12466E"/>
          </a:solidFill>
        </p:spPr>
      </p:sp>
      <p:sp>
        <p:nvSpPr>
          <p:cNvPr id="27" name="Text 24"/>
          <p:cNvSpPr/>
          <p:nvPr/>
        </p:nvSpPr>
        <p:spPr>
          <a:xfrm>
            <a:off x="7525512" y="2587752"/>
            <a:ext cx="1892808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2B13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Auth Rate Limit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7525512" y="2916936"/>
            <a:ext cx="1892808" cy="47548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D7E4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 requests / 15 minutes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9619488" y="2514600"/>
            <a:ext cx="2075688" cy="932688"/>
          </a:xfrm>
          <a:prstGeom prst="roundRect">
            <a:avLst>
              <a:gd name="adj" fmla="val 5882"/>
            </a:avLst>
          </a:prstGeom>
          <a:solidFill>
            <a:srgbClr val="12466E"/>
          </a:solidFill>
        </p:spPr>
      </p:sp>
      <p:sp>
        <p:nvSpPr>
          <p:cNvPr id="30" name="Text 27"/>
          <p:cNvSpPr/>
          <p:nvPr/>
        </p:nvSpPr>
        <p:spPr>
          <a:xfrm>
            <a:off x="9710928" y="2587752"/>
            <a:ext cx="1892808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2B13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Auth Slow-Down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9710928" y="2916936"/>
            <a:ext cx="1892808" cy="47548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D7E4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+300ms after 3 attempts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3063240" y="3566160"/>
            <a:ext cx="2075688" cy="932688"/>
          </a:xfrm>
          <a:prstGeom prst="roundRect">
            <a:avLst>
              <a:gd name="adj" fmla="val 5882"/>
            </a:avLst>
          </a:prstGeom>
          <a:solidFill>
            <a:srgbClr val="12466E"/>
          </a:solidFill>
        </p:spPr>
      </p:sp>
      <p:sp>
        <p:nvSpPr>
          <p:cNvPr id="33" name="Text 30"/>
          <p:cNvSpPr/>
          <p:nvPr/>
        </p:nvSpPr>
        <p:spPr>
          <a:xfrm>
            <a:off x="3154680" y="3639312"/>
            <a:ext cx="1892808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2B13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Global Rate Limit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3154680" y="3968496"/>
            <a:ext cx="1892808" cy="47548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D7E4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100 requests / 15 minutes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5248656" y="3566160"/>
            <a:ext cx="2075688" cy="932688"/>
          </a:xfrm>
          <a:prstGeom prst="roundRect">
            <a:avLst>
              <a:gd name="adj" fmla="val 5882"/>
            </a:avLst>
          </a:prstGeom>
          <a:solidFill>
            <a:srgbClr val="12466E"/>
          </a:solidFill>
        </p:spPr>
      </p:sp>
      <p:sp>
        <p:nvSpPr>
          <p:cNvPr id="36" name="Text 33"/>
          <p:cNvSpPr/>
          <p:nvPr/>
        </p:nvSpPr>
        <p:spPr>
          <a:xfrm>
            <a:off x="5340096" y="3639312"/>
            <a:ext cx="1892808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2B13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JWT alg Lock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5340096" y="3968496"/>
            <a:ext cx="1892808" cy="47548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D7E4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HS256 only — alg:none rejected</a:t>
            </a:r>
            <a:endParaRPr lang="en-US" sz="950" dirty="0"/>
          </a:p>
        </p:txBody>
      </p:sp>
      <p:sp>
        <p:nvSpPr>
          <p:cNvPr id="38" name="Shape 35"/>
          <p:cNvSpPr/>
          <p:nvPr/>
        </p:nvSpPr>
        <p:spPr>
          <a:xfrm>
            <a:off x="7434072" y="3566160"/>
            <a:ext cx="2075688" cy="932688"/>
          </a:xfrm>
          <a:prstGeom prst="roundRect">
            <a:avLst>
              <a:gd name="adj" fmla="val 5882"/>
            </a:avLst>
          </a:prstGeom>
          <a:solidFill>
            <a:srgbClr val="12466E"/>
          </a:solidFill>
        </p:spPr>
      </p:sp>
      <p:sp>
        <p:nvSpPr>
          <p:cNvPr id="39" name="Text 36"/>
          <p:cNvSpPr/>
          <p:nvPr/>
        </p:nvSpPr>
        <p:spPr>
          <a:xfrm>
            <a:off x="7525512" y="3639312"/>
            <a:ext cx="1892808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2B13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Token Expiry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7525512" y="3968496"/>
            <a:ext cx="1892808" cy="47548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D7E4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Access 15 minutes / Refresh 7 days</a:t>
            </a:r>
            <a:endParaRPr lang="en-US" sz="950" dirty="0"/>
          </a:p>
        </p:txBody>
      </p:sp>
      <p:sp>
        <p:nvSpPr>
          <p:cNvPr id="41" name="Shape 38"/>
          <p:cNvSpPr/>
          <p:nvPr/>
        </p:nvSpPr>
        <p:spPr>
          <a:xfrm>
            <a:off x="9619488" y="3566160"/>
            <a:ext cx="2075688" cy="932688"/>
          </a:xfrm>
          <a:prstGeom prst="roundRect">
            <a:avLst>
              <a:gd name="adj" fmla="val 5882"/>
            </a:avLst>
          </a:prstGeom>
          <a:solidFill>
            <a:srgbClr val="12466E"/>
          </a:solidFill>
        </p:spPr>
      </p:sp>
      <p:sp>
        <p:nvSpPr>
          <p:cNvPr id="42" name="Text 39"/>
          <p:cNvSpPr/>
          <p:nvPr/>
        </p:nvSpPr>
        <p:spPr>
          <a:xfrm>
            <a:off x="9710928" y="3639312"/>
            <a:ext cx="1892808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2B13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Account Lockout</a:t>
            </a:r>
            <a:endParaRPr lang="en-US" sz="1100" dirty="0"/>
          </a:p>
        </p:txBody>
      </p:sp>
      <p:sp>
        <p:nvSpPr>
          <p:cNvPr id="43" name="Text 40"/>
          <p:cNvSpPr/>
          <p:nvPr/>
        </p:nvSpPr>
        <p:spPr>
          <a:xfrm>
            <a:off x="9710928" y="3968496"/>
            <a:ext cx="1892808" cy="47548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D7E4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15-minute lockout after 5 failed attempts</a:t>
            </a:r>
            <a:endParaRPr lang="en-US" sz="950" dirty="0"/>
          </a:p>
        </p:txBody>
      </p:sp>
      <p:sp>
        <p:nvSpPr>
          <p:cNvPr id="44" name="Shape 41"/>
          <p:cNvSpPr/>
          <p:nvPr/>
        </p:nvSpPr>
        <p:spPr>
          <a:xfrm>
            <a:off x="3063240" y="4617720"/>
            <a:ext cx="2075688" cy="932688"/>
          </a:xfrm>
          <a:prstGeom prst="roundRect">
            <a:avLst>
              <a:gd name="adj" fmla="val 5882"/>
            </a:avLst>
          </a:prstGeom>
          <a:solidFill>
            <a:srgbClr val="12466E"/>
          </a:solidFill>
        </p:spPr>
      </p:sp>
      <p:sp>
        <p:nvSpPr>
          <p:cNvPr id="45" name="Text 42"/>
          <p:cNvSpPr/>
          <p:nvPr/>
        </p:nvSpPr>
        <p:spPr>
          <a:xfrm>
            <a:off x="3154680" y="4690872"/>
            <a:ext cx="1892808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2B13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Input Validation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3154680" y="5020056"/>
            <a:ext cx="1892808" cy="47548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D7E4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Strict rules for all fields</a:t>
            </a:r>
            <a:endParaRPr lang="en-US" sz="950" dirty="0"/>
          </a:p>
        </p:txBody>
      </p:sp>
      <p:sp>
        <p:nvSpPr>
          <p:cNvPr id="47" name="Shape 44"/>
          <p:cNvSpPr/>
          <p:nvPr/>
        </p:nvSpPr>
        <p:spPr>
          <a:xfrm>
            <a:off x="5248656" y="4617720"/>
            <a:ext cx="2075688" cy="932688"/>
          </a:xfrm>
          <a:prstGeom prst="roundRect">
            <a:avLst>
              <a:gd name="adj" fmla="val 5882"/>
            </a:avLst>
          </a:prstGeom>
          <a:solidFill>
            <a:srgbClr val="12466E"/>
          </a:solidFill>
        </p:spPr>
      </p:sp>
      <p:sp>
        <p:nvSpPr>
          <p:cNvPr id="48" name="Text 45"/>
          <p:cNvSpPr/>
          <p:nvPr/>
        </p:nvSpPr>
        <p:spPr>
          <a:xfrm>
            <a:off x="5340096" y="4690872"/>
            <a:ext cx="1892808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2B13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Mass-Assignment Guard</a:t>
            </a:r>
            <a:endParaRPr lang="en-US" sz="1100" dirty="0"/>
          </a:p>
        </p:txBody>
      </p:sp>
      <p:sp>
        <p:nvSpPr>
          <p:cNvPr id="49" name="Text 46"/>
          <p:cNvSpPr/>
          <p:nvPr/>
        </p:nvSpPr>
        <p:spPr>
          <a:xfrm>
            <a:off x="5340096" y="5020056"/>
            <a:ext cx="1892808" cy="47548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D7E4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Whitelist for profile updates</a:t>
            </a:r>
            <a:endParaRPr lang="en-US" sz="950" dirty="0"/>
          </a:p>
        </p:txBody>
      </p:sp>
      <p:sp>
        <p:nvSpPr>
          <p:cNvPr id="50" name="Shape 47"/>
          <p:cNvSpPr/>
          <p:nvPr/>
        </p:nvSpPr>
        <p:spPr>
          <a:xfrm>
            <a:off x="7434072" y="4617720"/>
            <a:ext cx="2075688" cy="932688"/>
          </a:xfrm>
          <a:prstGeom prst="roundRect">
            <a:avLst>
              <a:gd name="adj" fmla="val 5882"/>
            </a:avLst>
          </a:prstGeom>
          <a:solidFill>
            <a:srgbClr val="12466E"/>
          </a:solidFill>
        </p:spPr>
      </p:sp>
      <p:sp>
        <p:nvSpPr>
          <p:cNvPr id="51" name="Text 48"/>
          <p:cNvSpPr/>
          <p:nvPr/>
        </p:nvSpPr>
        <p:spPr>
          <a:xfrm>
            <a:off x="7525512" y="4690872"/>
            <a:ext cx="1892808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2B13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Timing-Safe Compare</a:t>
            </a:r>
            <a:endParaRPr lang="en-US" sz="1100" dirty="0"/>
          </a:p>
        </p:txBody>
      </p:sp>
      <p:sp>
        <p:nvSpPr>
          <p:cNvPr id="52" name="Text 49"/>
          <p:cNvSpPr/>
          <p:nvPr/>
        </p:nvSpPr>
        <p:spPr>
          <a:xfrm>
            <a:off x="7525512" y="5020056"/>
            <a:ext cx="1892808" cy="47548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D7E4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Prevents timing-based enumeration attacks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9619488" y="4617720"/>
            <a:ext cx="2075688" cy="932688"/>
          </a:xfrm>
          <a:prstGeom prst="roundRect">
            <a:avLst>
              <a:gd name="adj" fmla="val 5882"/>
            </a:avLst>
          </a:prstGeom>
          <a:solidFill>
            <a:srgbClr val="12466E"/>
          </a:solidFill>
        </p:spPr>
      </p:sp>
      <p:sp>
        <p:nvSpPr>
          <p:cNvPr id="54" name="Text 51"/>
          <p:cNvSpPr/>
          <p:nvPr/>
        </p:nvSpPr>
        <p:spPr>
          <a:xfrm>
            <a:off x="9710928" y="4690872"/>
            <a:ext cx="1892808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2B13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Security Logging</a:t>
            </a:r>
            <a:endParaRPr lang="en-US" sz="1100" dirty="0"/>
          </a:p>
        </p:txBody>
      </p:sp>
      <p:sp>
        <p:nvSpPr>
          <p:cNvPr id="55" name="Text 52"/>
          <p:cNvSpPr/>
          <p:nvPr/>
        </p:nvSpPr>
        <p:spPr>
          <a:xfrm>
            <a:off x="9710928" y="5020056"/>
            <a:ext cx="1892808" cy="47548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D7E4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Winston: security.log</a:t>
            </a:r>
            <a:endParaRPr lang="en-US" sz="950" dirty="0"/>
          </a:p>
        </p:txBody>
      </p:sp>
      <p:sp>
        <p:nvSpPr>
          <p:cNvPr id="56" name="Text 53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88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EchoHealth — Backend &amp; Security</a:t>
            </a:r>
            <a:endParaRPr lang="en-US" sz="900" dirty="0"/>
          </a:p>
        </p:txBody>
      </p:sp>
      <p:sp>
        <p:nvSpPr>
          <p:cNvPr id="57" name="Text 54"/>
          <p:cNvSpPr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88A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640080" cy="640080"/>
          </a:xfrm>
          <a:prstGeom prst="ellipse">
            <a:avLst/>
          </a:prstGeom>
          <a:solidFill>
            <a:srgbClr val="0B3D62"/>
          </a:solidFill>
        </p:spPr>
      </p:sp>
      <p:pic>
        <p:nvPicPr>
          <p:cNvPr id="3" name="Image 0" descr="icons/route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1218" y="555498"/>
            <a:ext cx="352044" cy="3520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65760"/>
            <a:ext cx="96012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3D6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Request Flow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234440" y="841248"/>
            <a:ext cx="9601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5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 sequential middleware layers — any layer can reject the request immediately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192024" y="1508760"/>
            <a:ext cx="1572768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04672" y="1600200"/>
            <a:ext cx="347472" cy="347472"/>
          </a:xfrm>
          <a:prstGeom prst="ellipse">
            <a:avLst/>
          </a:prstGeom>
          <a:solidFill>
            <a:srgbClr val="0E7C7B"/>
          </a:solidFill>
        </p:spPr>
      </p:sp>
      <p:sp>
        <p:nvSpPr>
          <p:cNvPr id="8" name="Text 5"/>
          <p:cNvSpPr/>
          <p:nvPr/>
        </p:nvSpPr>
        <p:spPr>
          <a:xfrm>
            <a:off x="804672" y="1600200"/>
            <a:ext cx="347472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237744" y="1984248"/>
            <a:ext cx="1481328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3D6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Request ID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1773936" y="1961388"/>
            <a:ext cx="109728" cy="146304"/>
          </a:xfrm>
          <a:prstGeom prst="rightArrow">
            <a:avLst/>
          </a:prstGeom>
          <a:solidFill>
            <a:srgbClr val="5B7280"/>
          </a:solidFill>
        </p:spPr>
      </p:sp>
      <p:sp>
        <p:nvSpPr>
          <p:cNvPr id="11" name="Shape 8"/>
          <p:cNvSpPr/>
          <p:nvPr/>
        </p:nvSpPr>
        <p:spPr>
          <a:xfrm>
            <a:off x="1892808" y="1508760"/>
            <a:ext cx="1572768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505456" y="1600200"/>
            <a:ext cx="347472" cy="347472"/>
          </a:xfrm>
          <a:prstGeom prst="ellipse">
            <a:avLst/>
          </a:prstGeom>
          <a:solidFill>
            <a:srgbClr val="0E7C7B"/>
          </a:solidFill>
        </p:spPr>
      </p:sp>
      <p:sp>
        <p:nvSpPr>
          <p:cNvPr id="13" name="Text 10"/>
          <p:cNvSpPr/>
          <p:nvPr/>
        </p:nvSpPr>
        <p:spPr>
          <a:xfrm>
            <a:off x="2505456" y="1600200"/>
            <a:ext cx="347472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1938528" y="1984248"/>
            <a:ext cx="1481328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3D6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Helmet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3474720" y="1961388"/>
            <a:ext cx="109728" cy="146304"/>
          </a:xfrm>
          <a:prstGeom prst="rightArrow">
            <a:avLst/>
          </a:prstGeom>
          <a:solidFill>
            <a:srgbClr val="5B7280"/>
          </a:solidFill>
        </p:spPr>
      </p:sp>
      <p:sp>
        <p:nvSpPr>
          <p:cNvPr id="16" name="Shape 13"/>
          <p:cNvSpPr/>
          <p:nvPr/>
        </p:nvSpPr>
        <p:spPr>
          <a:xfrm>
            <a:off x="3593592" y="1508760"/>
            <a:ext cx="1572768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206240" y="1600200"/>
            <a:ext cx="347472" cy="347472"/>
          </a:xfrm>
          <a:prstGeom prst="ellipse">
            <a:avLst/>
          </a:prstGeom>
          <a:solidFill>
            <a:srgbClr val="0E7C7B"/>
          </a:solidFill>
        </p:spPr>
      </p:sp>
      <p:sp>
        <p:nvSpPr>
          <p:cNvPr id="18" name="Text 15"/>
          <p:cNvSpPr/>
          <p:nvPr/>
        </p:nvSpPr>
        <p:spPr>
          <a:xfrm>
            <a:off x="4206240" y="1600200"/>
            <a:ext cx="347472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3639312" y="1984248"/>
            <a:ext cx="1481328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3D6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CORS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5175504" y="1961388"/>
            <a:ext cx="109728" cy="146304"/>
          </a:xfrm>
          <a:prstGeom prst="rightArrow">
            <a:avLst/>
          </a:prstGeom>
          <a:solidFill>
            <a:srgbClr val="5B7280"/>
          </a:solidFill>
        </p:spPr>
      </p:sp>
      <p:sp>
        <p:nvSpPr>
          <p:cNvPr id="21" name="Shape 18"/>
          <p:cNvSpPr/>
          <p:nvPr/>
        </p:nvSpPr>
        <p:spPr>
          <a:xfrm>
            <a:off x="5294376" y="1508760"/>
            <a:ext cx="1572768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5907024" y="1600200"/>
            <a:ext cx="347472" cy="347472"/>
          </a:xfrm>
          <a:prstGeom prst="ellipse">
            <a:avLst/>
          </a:prstGeom>
          <a:solidFill>
            <a:srgbClr val="0E7C7B"/>
          </a:solidFill>
        </p:spPr>
      </p:sp>
      <p:sp>
        <p:nvSpPr>
          <p:cNvPr id="23" name="Text 20"/>
          <p:cNvSpPr/>
          <p:nvPr/>
        </p:nvSpPr>
        <p:spPr>
          <a:xfrm>
            <a:off x="5907024" y="1600200"/>
            <a:ext cx="347472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5340096" y="1984248"/>
            <a:ext cx="1481328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3D6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Body Parser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6876288" y="1961388"/>
            <a:ext cx="109728" cy="146304"/>
          </a:xfrm>
          <a:prstGeom prst="rightArrow">
            <a:avLst/>
          </a:prstGeom>
          <a:solidFill>
            <a:srgbClr val="5B7280"/>
          </a:solidFill>
        </p:spPr>
      </p:sp>
      <p:sp>
        <p:nvSpPr>
          <p:cNvPr id="26" name="Shape 23"/>
          <p:cNvSpPr/>
          <p:nvPr/>
        </p:nvSpPr>
        <p:spPr>
          <a:xfrm>
            <a:off x="6995160" y="1508760"/>
            <a:ext cx="1572768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7607808" y="1600200"/>
            <a:ext cx="347472" cy="347472"/>
          </a:xfrm>
          <a:prstGeom prst="ellipse">
            <a:avLst/>
          </a:prstGeom>
          <a:solidFill>
            <a:srgbClr val="0E7C7B"/>
          </a:solidFill>
        </p:spPr>
      </p:sp>
      <p:sp>
        <p:nvSpPr>
          <p:cNvPr id="28" name="Text 25"/>
          <p:cNvSpPr/>
          <p:nvPr/>
        </p:nvSpPr>
        <p:spPr>
          <a:xfrm>
            <a:off x="7607808" y="1600200"/>
            <a:ext cx="347472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7040880" y="1984248"/>
            <a:ext cx="1481328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3D6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Content-Type Check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8577072" y="1961388"/>
            <a:ext cx="109728" cy="146304"/>
          </a:xfrm>
          <a:prstGeom prst="rightArrow">
            <a:avLst/>
          </a:prstGeom>
          <a:solidFill>
            <a:srgbClr val="5B7280"/>
          </a:solidFill>
        </p:spPr>
      </p:sp>
      <p:sp>
        <p:nvSpPr>
          <p:cNvPr id="31" name="Shape 28"/>
          <p:cNvSpPr/>
          <p:nvPr/>
        </p:nvSpPr>
        <p:spPr>
          <a:xfrm>
            <a:off x="8695944" y="1508760"/>
            <a:ext cx="1572768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9308592" y="1600200"/>
            <a:ext cx="347472" cy="347472"/>
          </a:xfrm>
          <a:prstGeom prst="ellipse">
            <a:avLst/>
          </a:prstGeom>
          <a:solidFill>
            <a:srgbClr val="0E7C7B"/>
          </a:solidFill>
        </p:spPr>
      </p:sp>
      <p:sp>
        <p:nvSpPr>
          <p:cNvPr id="33" name="Text 30"/>
          <p:cNvSpPr/>
          <p:nvPr/>
        </p:nvSpPr>
        <p:spPr>
          <a:xfrm>
            <a:off x="9308592" y="1600200"/>
            <a:ext cx="347472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8741664" y="1984248"/>
            <a:ext cx="1481328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3D6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Mongo-Sanitize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10277856" y="1961388"/>
            <a:ext cx="109728" cy="146304"/>
          </a:xfrm>
          <a:prstGeom prst="rightArrow">
            <a:avLst/>
          </a:prstGeom>
          <a:solidFill>
            <a:srgbClr val="5B7280"/>
          </a:solidFill>
        </p:spPr>
      </p:sp>
      <p:sp>
        <p:nvSpPr>
          <p:cNvPr id="36" name="Shape 33"/>
          <p:cNvSpPr/>
          <p:nvPr/>
        </p:nvSpPr>
        <p:spPr>
          <a:xfrm>
            <a:off x="10396728" y="1508760"/>
            <a:ext cx="1572768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11009376" y="1600200"/>
            <a:ext cx="347472" cy="347472"/>
          </a:xfrm>
          <a:prstGeom prst="ellipse">
            <a:avLst/>
          </a:prstGeom>
          <a:solidFill>
            <a:srgbClr val="0E7C7B"/>
          </a:solidFill>
        </p:spPr>
      </p:sp>
      <p:sp>
        <p:nvSpPr>
          <p:cNvPr id="38" name="Text 35"/>
          <p:cNvSpPr/>
          <p:nvPr/>
        </p:nvSpPr>
        <p:spPr>
          <a:xfrm>
            <a:off x="11009376" y="1600200"/>
            <a:ext cx="347472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10442448" y="1984248"/>
            <a:ext cx="1481328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3D6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XSS Clean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192024" y="2880360"/>
            <a:ext cx="1572768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1" name="Shape 38"/>
          <p:cNvSpPr/>
          <p:nvPr/>
        </p:nvSpPr>
        <p:spPr>
          <a:xfrm>
            <a:off x="804672" y="2971800"/>
            <a:ext cx="347472" cy="347472"/>
          </a:xfrm>
          <a:prstGeom prst="ellipse">
            <a:avLst/>
          </a:prstGeom>
          <a:solidFill>
            <a:srgbClr val="0E7C7B"/>
          </a:solidFill>
        </p:spPr>
      </p:sp>
      <p:sp>
        <p:nvSpPr>
          <p:cNvPr id="42" name="Text 39"/>
          <p:cNvSpPr/>
          <p:nvPr/>
        </p:nvSpPr>
        <p:spPr>
          <a:xfrm>
            <a:off x="804672" y="2971800"/>
            <a:ext cx="347472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1100" dirty="0"/>
          </a:p>
        </p:txBody>
      </p:sp>
      <p:sp>
        <p:nvSpPr>
          <p:cNvPr id="43" name="Text 40"/>
          <p:cNvSpPr/>
          <p:nvPr/>
        </p:nvSpPr>
        <p:spPr>
          <a:xfrm>
            <a:off x="237744" y="3355848"/>
            <a:ext cx="1481328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3D6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HPP</a:t>
            </a:r>
            <a:endParaRPr lang="en-US" sz="950" dirty="0"/>
          </a:p>
        </p:txBody>
      </p:sp>
      <p:sp>
        <p:nvSpPr>
          <p:cNvPr id="44" name="Shape 41"/>
          <p:cNvSpPr/>
          <p:nvPr/>
        </p:nvSpPr>
        <p:spPr>
          <a:xfrm>
            <a:off x="1773936" y="3332988"/>
            <a:ext cx="109728" cy="146304"/>
          </a:xfrm>
          <a:prstGeom prst="rightArrow">
            <a:avLst/>
          </a:prstGeom>
          <a:solidFill>
            <a:srgbClr val="5B7280"/>
          </a:solidFill>
        </p:spPr>
      </p:sp>
      <p:sp>
        <p:nvSpPr>
          <p:cNvPr id="45" name="Shape 42"/>
          <p:cNvSpPr/>
          <p:nvPr/>
        </p:nvSpPr>
        <p:spPr>
          <a:xfrm>
            <a:off x="1892808" y="2880360"/>
            <a:ext cx="1572768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6" name="Shape 43"/>
          <p:cNvSpPr/>
          <p:nvPr/>
        </p:nvSpPr>
        <p:spPr>
          <a:xfrm>
            <a:off x="2505456" y="2971800"/>
            <a:ext cx="347472" cy="347472"/>
          </a:xfrm>
          <a:prstGeom prst="ellipse">
            <a:avLst/>
          </a:prstGeom>
          <a:solidFill>
            <a:srgbClr val="0E7C7B"/>
          </a:solidFill>
        </p:spPr>
      </p:sp>
      <p:sp>
        <p:nvSpPr>
          <p:cNvPr id="47" name="Text 44"/>
          <p:cNvSpPr/>
          <p:nvPr/>
        </p:nvSpPr>
        <p:spPr>
          <a:xfrm>
            <a:off x="2505456" y="2971800"/>
            <a:ext cx="347472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</a:t>
            </a:r>
            <a:endParaRPr lang="en-US" sz="1100" dirty="0"/>
          </a:p>
        </p:txBody>
      </p:sp>
      <p:sp>
        <p:nvSpPr>
          <p:cNvPr id="48" name="Text 45"/>
          <p:cNvSpPr/>
          <p:nvPr/>
        </p:nvSpPr>
        <p:spPr>
          <a:xfrm>
            <a:off x="1938528" y="3355848"/>
            <a:ext cx="1481328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3D6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Rate Limiter</a:t>
            </a:r>
            <a:endParaRPr lang="en-US" sz="950" dirty="0"/>
          </a:p>
        </p:txBody>
      </p:sp>
      <p:sp>
        <p:nvSpPr>
          <p:cNvPr id="49" name="Shape 46"/>
          <p:cNvSpPr/>
          <p:nvPr/>
        </p:nvSpPr>
        <p:spPr>
          <a:xfrm>
            <a:off x="3474720" y="3332988"/>
            <a:ext cx="109728" cy="146304"/>
          </a:xfrm>
          <a:prstGeom prst="rightArrow">
            <a:avLst/>
          </a:prstGeom>
          <a:solidFill>
            <a:srgbClr val="5B7280"/>
          </a:solidFill>
        </p:spPr>
      </p:sp>
      <p:sp>
        <p:nvSpPr>
          <p:cNvPr id="50" name="Shape 47"/>
          <p:cNvSpPr/>
          <p:nvPr/>
        </p:nvSpPr>
        <p:spPr>
          <a:xfrm>
            <a:off x="3593592" y="2880360"/>
            <a:ext cx="1572768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1" name="Shape 48"/>
          <p:cNvSpPr/>
          <p:nvPr/>
        </p:nvSpPr>
        <p:spPr>
          <a:xfrm>
            <a:off x="4206240" y="2971800"/>
            <a:ext cx="347472" cy="347472"/>
          </a:xfrm>
          <a:prstGeom prst="ellipse">
            <a:avLst/>
          </a:prstGeom>
          <a:solidFill>
            <a:srgbClr val="0E7C7B"/>
          </a:solidFill>
        </p:spPr>
      </p:sp>
      <p:sp>
        <p:nvSpPr>
          <p:cNvPr id="52" name="Text 49"/>
          <p:cNvSpPr/>
          <p:nvPr/>
        </p:nvSpPr>
        <p:spPr>
          <a:xfrm>
            <a:off x="4206240" y="2971800"/>
            <a:ext cx="347472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1100" dirty="0"/>
          </a:p>
        </p:txBody>
      </p:sp>
      <p:sp>
        <p:nvSpPr>
          <p:cNvPr id="53" name="Text 50"/>
          <p:cNvSpPr/>
          <p:nvPr/>
        </p:nvSpPr>
        <p:spPr>
          <a:xfrm>
            <a:off x="3639312" y="3355848"/>
            <a:ext cx="1481328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3D6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Auth Slow-Down</a:t>
            </a:r>
            <a:endParaRPr lang="en-US" sz="950" dirty="0"/>
          </a:p>
        </p:txBody>
      </p:sp>
      <p:sp>
        <p:nvSpPr>
          <p:cNvPr id="54" name="Shape 51"/>
          <p:cNvSpPr/>
          <p:nvPr/>
        </p:nvSpPr>
        <p:spPr>
          <a:xfrm>
            <a:off x="5175504" y="3332988"/>
            <a:ext cx="109728" cy="146304"/>
          </a:xfrm>
          <a:prstGeom prst="rightArrow">
            <a:avLst/>
          </a:prstGeom>
          <a:solidFill>
            <a:srgbClr val="5B7280"/>
          </a:solidFill>
        </p:spPr>
      </p:sp>
      <p:sp>
        <p:nvSpPr>
          <p:cNvPr id="55" name="Shape 52"/>
          <p:cNvSpPr/>
          <p:nvPr/>
        </p:nvSpPr>
        <p:spPr>
          <a:xfrm>
            <a:off x="5294376" y="2880360"/>
            <a:ext cx="1572768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6" name="Shape 53"/>
          <p:cNvSpPr/>
          <p:nvPr/>
        </p:nvSpPr>
        <p:spPr>
          <a:xfrm>
            <a:off x="5907024" y="2971800"/>
            <a:ext cx="347472" cy="347472"/>
          </a:xfrm>
          <a:prstGeom prst="ellipse">
            <a:avLst/>
          </a:prstGeom>
          <a:solidFill>
            <a:srgbClr val="0E7C7B"/>
          </a:solidFill>
        </p:spPr>
      </p:sp>
      <p:sp>
        <p:nvSpPr>
          <p:cNvPr id="57" name="Text 54"/>
          <p:cNvSpPr/>
          <p:nvPr/>
        </p:nvSpPr>
        <p:spPr>
          <a:xfrm>
            <a:off x="5907024" y="2971800"/>
            <a:ext cx="347472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</a:t>
            </a:r>
            <a:endParaRPr lang="en-US" sz="1100" dirty="0"/>
          </a:p>
        </p:txBody>
      </p:sp>
      <p:sp>
        <p:nvSpPr>
          <p:cNvPr id="58" name="Text 55"/>
          <p:cNvSpPr/>
          <p:nvPr/>
        </p:nvSpPr>
        <p:spPr>
          <a:xfrm>
            <a:off x="5340096" y="3355848"/>
            <a:ext cx="1481328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3D6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authMiddleware (JWT)</a:t>
            </a:r>
            <a:endParaRPr lang="en-US" sz="950" dirty="0"/>
          </a:p>
        </p:txBody>
      </p:sp>
      <p:sp>
        <p:nvSpPr>
          <p:cNvPr id="59" name="Shape 56"/>
          <p:cNvSpPr/>
          <p:nvPr/>
        </p:nvSpPr>
        <p:spPr>
          <a:xfrm>
            <a:off x="6876288" y="3332988"/>
            <a:ext cx="109728" cy="146304"/>
          </a:xfrm>
          <a:prstGeom prst="rightArrow">
            <a:avLst/>
          </a:prstGeom>
          <a:solidFill>
            <a:srgbClr val="5B7280"/>
          </a:solidFill>
        </p:spPr>
      </p:sp>
      <p:sp>
        <p:nvSpPr>
          <p:cNvPr id="60" name="Shape 57"/>
          <p:cNvSpPr/>
          <p:nvPr/>
        </p:nvSpPr>
        <p:spPr>
          <a:xfrm>
            <a:off x="6995160" y="2880360"/>
            <a:ext cx="1572768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1" name="Shape 58"/>
          <p:cNvSpPr/>
          <p:nvPr/>
        </p:nvSpPr>
        <p:spPr>
          <a:xfrm>
            <a:off x="7607808" y="2971800"/>
            <a:ext cx="347472" cy="347472"/>
          </a:xfrm>
          <a:prstGeom prst="ellipse">
            <a:avLst/>
          </a:prstGeom>
          <a:solidFill>
            <a:srgbClr val="0E7C7B"/>
          </a:solidFill>
        </p:spPr>
      </p:sp>
      <p:sp>
        <p:nvSpPr>
          <p:cNvPr id="62" name="Text 59"/>
          <p:cNvSpPr/>
          <p:nvPr/>
        </p:nvSpPr>
        <p:spPr>
          <a:xfrm>
            <a:off x="7607808" y="2971800"/>
            <a:ext cx="347472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</a:t>
            </a:r>
            <a:endParaRPr lang="en-US" sz="1100" dirty="0"/>
          </a:p>
        </p:txBody>
      </p:sp>
      <p:sp>
        <p:nvSpPr>
          <p:cNvPr id="63" name="Text 60"/>
          <p:cNvSpPr/>
          <p:nvPr/>
        </p:nvSpPr>
        <p:spPr>
          <a:xfrm>
            <a:off x="7040880" y="3355848"/>
            <a:ext cx="1481328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B3D6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Input Validator</a:t>
            </a:r>
            <a:endParaRPr lang="en-US" sz="950" dirty="0"/>
          </a:p>
        </p:txBody>
      </p:sp>
      <p:sp>
        <p:nvSpPr>
          <p:cNvPr id="64" name="Shape 61"/>
          <p:cNvSpPr/>
          <p:nvPr/>
        </p:nvSpPr>
        <p:spPr>
          <a:xfrm>
            <a:off x="8577072" y="3332988"/>
            <a:ext cx="109728" cy="146304"/>
          </a:xfrm>
          <a:prstGeom prst="rightArrow">
            <a:avLst/>
          </a:prstGeom>
          <a:solidFill>
            <a:srgbClr val="5B7280"/>
          </a:solidFill>
        </p:spPr>
      </p:sp>
      <p:sp>
        <p:nvSpPr>
          <p:cNvPr id="65" name="Shape 62"/>
          <p:cNvSpPr/>
          <p:nvPr/>
        </p:nvSpPr>
        <p:spPr>
          <a:xfrm>
            <a:off x="8695944" y="2880360"/>
            <a:ext cx="1572768" cy="1051560"/>
          </a:xfrm>
          <a:prstGeom prst="roundRect">
            <a:avLst>
              <a:gd name="adj" fmla="val 6957"/>
            </a:avLst>
          </a:prstGeom>
          <a:solidFill>
            <a:srgbClr val="E63946"/>
          </a:solidFill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6" name="Shape 63"/>
          <p:cNvSpPr/>
          <p:nvPr/>
        </p:nvSpPr>
        <p:spPr>
          <a:xfrm>
            <a:off x="9308592" y="2971800"/>
            <a:ext cx="347472" cy="347472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67" name="Text 64"/>
          <p:cNvSpPr/>
          <p:nvPr/>
        </p:nvSpPr>
        <p:spPr>
          <a:xfrm>
            <a:off x="9308592" y="2971800"/>
            <a:ext cx="347472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6394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</a:t>
            </a:r>
            <a:endParaRPr lang="en-US" sz="1100" dirty="0"/>
          </a:p>
        </p:txBody>
      </p:sp>
      <p:sp>
        <p:nvSpPr>
          <p:cNvPr id="68" name="Text 65"/>
          <p:cNvSpPr/>
          <p:nvPr/>
        </p:nvSpPr>
        <p:spPr>
          <a:xfrm>
            <a:off x="8741664" y="3355848"/>
            <a:ext cx="1481328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Controller</a:t>
            </a:r>
            <a:endParaRPr lang="en-US" sz="950" dirty="0"/>
          </a:p>
        </p:txBody>
      </p:sp>
      <p:sp>
        <p:nvSpPr>
          <p:cNvPr id="69" name="Text 66"/>
          <p:cNvSpPr/>
          <p:nvPr/>
        </p:nvSpPr>
        <p:spPr>
          <a:xfrm>
            <a:off x="457200" y="4160520"/>
            <a:ext cx="112471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Every request passes through all layers in order before reaching Controller logic.</a:t>
            </a:r>
            <a:endParaRPr lang="en-US" sz="1300" dirty="0"/>
          </a:p>
        </p:txBody>
      </p:sp>
      <p:sp>
        <p:nvSpPr>
          <p:cNvPr id="70" name="Shape 67"/>
          <p:cNvSpPr/>
          <p:nvPr/>
        </p:nvSpPr>
        <p:spPr>
          <a:xfrm>
            <a:off x="457200" y="4754880"/>
            <a:ext cx="11247120" cy="1417320"/>
          </a:xfrm>
          <a:prstGeom prst="roundRect">
            <a:avLst>
              <a:gd name="adj" fmla="val 5161"/>
            </a:avLst>
          </a:prstGeom>
          <a:solidFill>
            <a:srgbClr val="0B3D62"/>
          </a:solidFill>
        </p:spPr>
      </p:sp>
      <p:sp>
        <p:nvSpPr>
          <p:cNvPr id="71" name="Text 68"/>
          <p:cNvSpPr/>
          <p:nvPr/>
        </p:nvSpPr>
        <p:spPr>
          <a:xfrm>
            <a:off x="731520" y="4892040"/>
            <a:ext cx="1069848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2B13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HTTP Status Codes</a:t>
            </a:r>
            <a:endParaRPr lang="en-US" sz="1300" dirty="0"/>
          </a:p>
        </p:txBody>
      </p:sp>
      <p:sp>
        <p:nvSpPr>
          <p:cNvPr id="72" name="Text 69"/>
          <p:cNvSpPr/>
          <p:nvPr/>
        </p:nvSpPr>
        <p:spPr>
          <a:xfrm>
            <a:off x="457200" y="5257800"/>
            <a:ext cx="18745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63946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401</a:t>
            </a:r>
            <a:endParaRPr lang="en-US" sz="1800" dirty="0"/>
          </a:p>
        </p:txBody>
      </p:sp>
      <p:sp>
        <p:nvSpPr>
          <p:cNvPr id="73" name="Text 70"/>
          <p:cNvSpPr/>
          <p:nvPr/>
        </p:nvSpPr>
        <p:spPr>
          <a:xfrm>
            <a:off x="457200" y="5623560"/>
            <a:ext cx="1874520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7E4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Missing/invalid token</a:t>
            </a:r>
            <a:endParaRPr lang="en-US" sz="1000" dirty="0"/>
          </a:p>
        </p:txBody>
      </p:sp>
      <p:sp>
        <p:nvSpPr>
          <p:cNvPr id="74" name="Text 71"/>
          <p:cNvSpPr/>
          <p:nvPr/>
        </p:nvSpPr>
        <p:spPr>
          <a:xfrm>
            <a:off x="2331720" y="5257800"/>
            <a:ext cx="18745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63946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423</a:t>
            </a:r>
            <a:endParaRPr lang="en-US" sz="1800" dirty="0"/>
          </a:p>
        </p:txBody>
      </p:sp>
      <p:sp>
        <p:nvSpPr>
          <p:cNvPr id="75" name="Text 72"/>
          <p:cNvSpPr/>
          <p:nvPr/>
        </p:nvSpPr>
        <p:spPr>
          <a:xfrm>
            <a:off x="2331720" y="5623560"/>
            <a:ext cx="1874520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7E4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Account locked</a:t>
            </a:r>
            <a:endParaRPr lang="en-US" sz="1000" dirty="0"/>
          </a:p>
        </p:txBody>
      </p:sp>
      <p:sp>
        <p:nvSpPr>
          <p:cNvPr id="76" name="Text 73"/>
          <p:cNvSpPr/>
          <p:nvPr/>
        </p:nvSpPr>
        <p:spPr>
          <a:xfrm>
            <a:off x="4206240" y="5257800"/>
            <a:ext cx="18745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63946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429</a:t>
            </a:r>
            <a:endParaRPr lang="en-US" sz="1800" dirty="0"/>
          </a:p>
        </p:txBody>
      </p:sp>
      <p:sp>
        <p:nvSpPr>
          <p:cNvPr id="77" name="Text 74"/>
          <p:cNvSpPr/>
          <p:nvPr/>
        </p:nvSpPr>
        <p:spPr>
          <a:xfrm>
            <a:off x="4206240" y="5623560"/>
            <a:ext cx="1874520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7E4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Rate limit exceeded</a:t>
            </a:r>
            <a:endParaRPr lang="en-US" sz="1000" dirty="0"/>
          </a:p>
        </p:txBody>
      </p:sp>
      <p:sp>
        <p:nvSpPr>
          <p:cNvPr id="78" name="Text 75"/>
          <p:cNvSpPr/>
          <p:nvPr/>
        </p:nvSpPr>
        <p:spPr>
          <a:xfrm>
            <a:off x="6080760" y="5257800"/>
            <a:ext cx="18745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63946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415</a:t>
            </a:r>
            <a:endParaRPr lang="en-US" sz="1800" dirty="0"/>
          </a:p>
        </p:txBody>
      </p:sp>
      <p:sp>
        <p:nvSpPr>
          <p:cNvPr id="79" name="Text 76"/>
          <p:cNvSpPr/>
          <p:nvPr/>
        </p:nvSpPr>
        <p:spPr>
          <a:xfrm>
            <a:off x="6080760" y="5623560"/>
            <a:ext cx="1874520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7E4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Invalid Content-Type</a:t>
            </a:r>
            <a:endParaRPr lang="en-US" sz="1000" dirty="0"/>
          </a:p>
        </p:txBody>
      </p:sp>
      <p:sp>
        <p:nvSpPr>
          <p:cNvPr id="80" name="Text 77"/>
          <p:cNvSpPr/>
          <p:nvPr/>
        </p:nvSpPr>
        <p:spPr>
          <a:xfrm>
            <a:off x="7955280" y="5257800"/>
            <a:ext cx="18745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63946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503</a:t>
            </a:r>
            <a:endParaRPr lang="en-US" sz="1800" dirty="0"/>
          </a:p>
        </p:txBody>
      </p:sp>
      <p:sp>
        <p:nvSpPr>
          <p:cNvPr id="81" name="Text 78"/>
          <p:cNvSpPr/>
          <p:nvPr/>
        </p:nvSpPr>
        <p:spPr>
          <a:xfrm>
            <a:off x="7955280" y="5623560"/>
            <a:ext cx="1874520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7E4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Flask ML service down</a:t>
            </a:r>
            <a:endParaRPr lang="en-US" sz="1000" dirty="0"/>
          </a:p>
        </p:txBody>
      </p:sp>
      <p:sp>
        <p:nvSpPr>
          <p:cNvPr id="82" name="Text 79"/>
          <p:cNvSpPr/>
          <p:nvPr/>
        </p:nvSpPr>
        <p:spPr>
          <a:xfrm>
            <a:off x="9829800" y="5257800"/>
            <a:ext cx="18745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63946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400</a:t>
            </a:r>
            <a:endParaRPr lang="en-US" sz="1800" dirty="0"/>
          </a:p>
        </p:txBody>
      </p:sp>
      <p:sp>
        <p:nvSpPr>
          <p:cNvPr id="83" name="Text 80"/>
          <p:cNvSpPr/>
          <p:nvPr/>
        </p:nvSpPr>
        <p:spPr>
          <a:xfrm>
            <a:off x="9829800" y="5623560"/>
            <a:ext cx="1874520" cy="457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7E4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Input validation failed</a:t>
            </a:r>
            <a:endParaRPr lang="en-US" sz="1000" dirty="0"/>
          </a:p>
        </p:txBody>
      </p:sp>
      <p:sp>
        <p:nvSpPr>
          <p:cNvPr id="84" name="Text 81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EchoHealth — Backend &amp; Security</a:t>
            </a:r>
            <a:endParaRPr lang="en-US" sz="900" dirty="0"/>
          </a:p>
        </p:txBody>
      </p:sp>
      <p:sp>
        <p:nvSpPr>
          <p:cNvPr id="85" name="Text 82"/>
          <p:cNvSpPr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640080" cy="640080"/>
          </a:xfrm>
          <a:prstGeom prst="ellipse">
            <a:avLst/>
          </a:prstGeom>
          <a:solidFill>
            <a:srgbClr val="0B3D62"/>
          </a:solidFill>
        </p:spPr>
      </p:sp>
      <p:pic>
        <p:nvPicPr>
          <p:cNvPr id="3" name="Image 0" descr="icons/bug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1218" y="555498"/>
            <a:ext cx="352044" cy="3520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65760"/>
            <a:ext cx="96012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3D6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Security Vulnerabilities &amp; Defenses (1/2)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234440" y="841248"/>
            <a:ext cx="9601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5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 attack examples and how EchoHealth defends against them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1463040"/>
            <a:ext cx="3630168" cy="4572000"/>
          </a:xfrm>
          <a:prstGeom prst="roundRect">
            <a:avLst>
              <a:gd name="adj" fmla="val 2015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401568" y="1664208"/>
            <a:ext cx="457200" cy="457200"/>
          </a:xfrm>
          <a:prstGeom prst="ellipse">
            <a:avLst/>
          </a:prstGeom>
          <a:solidFill>
            <a:srgbClr val="E63946"/>
          </a:solidFill>
        </p:spPr>
      </p:sp>
      <p:pic>
        <p:nvPicPr>
          <p:cNvPr id="8" name="Image 1" descr="icons/bug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04438" y="1767078"/>
            <a:ext cx="251460" cy="2514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94360" y="1600200"/>
            <a:ext cx="457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C9D3D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5.1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594360" y="1965960"/>
            <a:ext cx="2715768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0B3D6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XSS — Cross-Site Scripting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685800" y="2514600"/>
            <a:ext cx="3172968" cy="2057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E6394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Problem: </a:t>
            </a:r>
            <a:r>
              <a:rPr lang="en-US" sz="1050" dirty="0">
                <a:solidFill>
                  <a:srgbClr val="1C2B3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Injecting malicious script into a field like firstName to run in the browser of any user viewing the profile.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685800" y="4114800"/>
            <a:ext cx="3172968" cy="1828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E7C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Solution: </a:t>
            </a:r>
            <a:r>
              <a:rPr lang="en-US" sz="1050" dirty="0">
                <a:solidFill>
                  <a:srgbClr val="1C2B3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Two independent layers: xss-filters sanitize all inputs globally, and an express-validator regex accepts letters only, rejecting any HTML tag with a 400 error.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4270248" y="1463040"/>
            <a:ext cx="3630168" cy="4572000"/>
          </a:xfrm>
          <a:prstGeom prst="roundRect">
            <a:avLst>
              <a:gd name="adj" fmla="val 2015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214616" y="1664208"/>
            <a:ext cx="457200" cy="457200"/>
          </a:xfrm>
          <a:prstGeom prst="ellipse">
            <a:avLst/>
          </a:prstGeom>
          <a:solidFill>
            <a:srgbClr val="E63946"/>
          </a:solidFill>
        </p:spPr>
      </p:sp>
      <p:pic>
        <p:nvPicPr>
          <p:cNvPr id="15" name="Image 2" descr="icons/database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7486" y="1767078"/>
            <a:ext cx="251460" cy="2514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407408" y="1600200"/>
            <a:ext cx="457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C9D3D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5.2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4407408" y="1965960"/>
            <a:ext cx="2715768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0B3D6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NoSQL Injection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4498848" y="2514600"/>
            <a:ext cx="3172968" cy="2057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E6394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Problem: </a:t>
            </a:r>
            <a:r>
              <a:rPr lang="en-US" sz="1050" dirty="0">
                <a:solidFill>
                  <a:srgbClr val="1C2B3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Sending MongoDB operators like $gt instead of real values at login to bypass password verification.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4498848" y="4114800"/>
            <a:ext cx="3172968" cy="1828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E7C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Solution: </a:t>
            </a:r>
            <a:r>
              <a:rPr lang="en-US" sz="1050" dirty="0">
                <a:solidFill>
                  <a:srgbClr val="1C2B3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express-mongo-sanitize strips any key starting with $ or containing a dot, and express-validator confirms the field is a string, not an object.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8083296" y="1463040"/>
            <a:ext cx="3630168" cy="4572000"/>
          </a:xfrm>
          <a:prstGeom prst="roundRect">
            <a:avLst>
              <a:gd name="adj" fmla="val 2015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11027664" y="1664208"/>
            <a:ext cx="457200" cy="457200"/>
          </a:xfrm>
          <a:prstGeom prst="ellipse">
            <a:avLst/>
          </a:prstGeom>
          <a:solidFill>
            <a:srgbClr val="E63946"/>
          </a:solidFill>
        </p:spPr>
      </p:sp>
      <p:pic>
        <p:nvPicPr>
          <p:cNvPr id="22" name="Image 3" descr="icons/key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0534" y="1767078"/>
            <a:ext cx="251460" cy="2514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220456" y="1600200"/>
            <a:ext cx="457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C9D3D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5.3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8220456" y="1965960"/>
            <a:ext cx="2715768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0B3D6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Fake / Forged Token</a:t>
            </a:r>
            <a:endParaRPr lang="en-US" sz="1450" dirty="0"/>
          </a:p>
        </p:txBody>
      </p:sp>
      <p:sp>
        <p:nvSpPr>
          <p:cNvPr id="25" name="Text 19"/>
          <p:cNvSpPr/>
          <p:nvPr/>
        </p:nvSpPr>
        <p:spPr>
          <a:xfrm>
            <a:off x="8311896" y="2514600"/>
            <a:ext cx="3172968" cy="2057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E6394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Problem: </a:t>
            </a:r>
            <a:r>
              <a:rPr lang="en-US" sz="1050" dirty="0">
                <a:solidFill>
                  <a:srgbClr val="1C2B3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Sending a forged JWT, or using an alg:none attack, to impersonate any user including admins.</a:t>
            </a:r>
            <a:endParaRPr lang="en-US" sz="1050" dirty="0"/>
          </a:p>
        </p:txBody>
      </p:sp>
      <p:sp>
        <p:nvSpPr>
          <p:cNvPr id="26" name="Text 20"/>
          <p:cNvSpPr/>
          <p:nvPr/>
        </p:nvSpPr>
        <p:spPr>
          <a:xfrm>
            <a:off x="8311896" y="4114800"/>
            <a:ext cx="3172968" cy="1828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E7C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Solution: </a:t>
            </a:r>
            <a:r>
              <a:rPr lang="en-US" sz="1050" dirty="0">
                <a:solidFill>
                  <a:srgbClr val="1C2B3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authMiddleware verifies the token structure (3 parts) and locks the algorithm to HS256 only via jwt.verify — any other algorithm is rejected.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EchoHealth — Backend &amp; Security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640080" cy="640080"/>
          </a:xfrm>
          <a:prstGeom prst="ellipse">
            <a:avLst/>
          </a:prstGeom>
          <a:solidFill>
            <a:srgbClr val="0B3D62"/>
          </a:solidFill>
        </p:spPr>
      </p:sp>
      <p:pic>
        <p:nvPicPr>
          <p:cNvPr id="3" name="Image 0" descr="icons/bug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1218" y="555498"/>
            <a:ext cx="352044" cy="3520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65760"/>
            <a:ext cx="96012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B3D62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Security Vulnerabilities &amp; Defenses (2/2)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1234440" y="841248"/>
            <a:ext cx="9601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5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 attack examples and how EchoHealth defends against them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1463040"/>
            <a:ext cx="3630168" cy="4572000"/>
          </a:xfrm>
          <a:prstGeom prst="roundRect">
            <a:avLst>
              <a:gd name="adj" fmla="val 2015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401568" y="1664208"/>
            <a:ext cx="457200" cy="457200"/>
          </a:xfrm>
          <a:prstGeom prst="ellipse">
            <a:avLst/>
          </a:prstGeom>
          <a:solidFill>
            <a:srgbClr val="E63946"/>
          </a:solidFill>
        </p:spPr>
      </p:sp>
      <p:pic>
        <p:nvPicPr>
          <p:cNvPr id="8" name="Image 1" descr="icons/ban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4438" y="1767078"/>
            <a:ext cx="251460" cy="2514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94360" y="1600200"/>
            <a:ext cx="457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C9D3D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5.4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594360" y="1965960"/>
            <a:ext cx="2715768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0B3D6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Missing Authorization Token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685800" y="2514600"/>
            <a:ext cx="3172968" cy="2057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E6394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Problem: </a:t>
            </a:r>
            <a:r>
              <a:rPr lang="en-US" sz="1050" dirty="0">
                <a:solidFill>
                  <a:srgbClr val="1C2B3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direct request with no Authorization header to a protected route like /api/patient/profile.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685800" y="4114800"/>
            <a:ext cx="3172968" cy="1828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E7C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Solution: </a:t>
            </a:r>
            <a:r>
              <a:rPr lang="en-US" sz="1050" dirty="0">
                <a:solidFill>
                  <a:srgbClr val="1C2B3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Protection middleware is explicitly opt-in on every protected route and immediately rejects with a 401 if the header does not start with Bearer.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4270248" y="1463040"/>
            <a:ext cx="3630168" cy="4572000"/>
          </a:xfrm>
          <a:prstGeom prst="roundRect">
            <a:avLst>
              <a:gd name="adj" fmla="val 2015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214616" y="1664208"/>
            <a:ext cx="457200" cy="457200"/>
          </a:xfrm>
          <a:prstGeom prst="ellipse">
            <a:avLst/>
          </a:prstGeom>
          <a:solidFill>
            <a:srgbClr val="E63946"/>
          </a:solidFill>
        </p:spPr>
      </p:sp>
      <p:pic>
        <p:nvPicPr>
          <p:cNvPr id="15" name="Image 2" descr="icons/lo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7486" y="1767078"/>
            <a:ext cx="251460" cy="2514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407408" y="1600200"/>
            <a:ext cx="457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C9D3D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5.5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4407408" y="1965960"/>
            <a:ext cx="2715768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0B3D6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Weak Password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4498848" y="2514600"/>
            <a:ext cx="3172968" cy="2057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E6394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Problem: </a:t>
            </a:r>
            <a:r>
              <a:rPr lang="en-US" sz="1050" dirty="0">
                <a:solidFill>
                  <a:srgbClr val="1C2B3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Registering with a weak password like 123456 that can be cracked in a fraction of a second.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4498848" y="4114800"/>
            <a:ext cx="3172968" cy="1828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E7C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Solution: </a:t>
            </a:r>
            <a:r>
              <a:rPr lang="en-US" sz="1050" dirty="0">
                <a:solidFill>
                  <a:srgbClr val="1C2B3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express-validator requires at least 8 characters with an uppercase letter, lowercase letter, number, and special character — any violation is rejected with a detailed 400 error.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8083296" y="1463040"/>
            <a:ext cx="3630168" cy="4572000"/>
          </a:xfrm>
          <a:prstGeom prst="roundRect">
            <a:avLst>
              <a:gd name="adj" fmla="val 2015"/>
            </a:avLst>
          </a:prstGeom>
          <a:solidFill>
            <a:srgbClr val="FFFFFF"/>
          </a:solidFill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11027664" y="1664208"/>
            <a:ext cx="457200" cy="457200"/>
          </a:xfrm>
          <a:prstGeom prst="ellipse">
            <a:avLst/>
          </a:prstGeom>
          <a:solidFill>
            <a:srgbClr val="E63946"/>
          </a:solidFill>
        </p:spPr>
      </p:sp>
      <p:pic>
        <p:nvPicPr>
          <p:cNvPr id="22" name="Image 3" descr="icons/userSecret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30534" y="1767078"/>
            <a:ext cx="251460" cy="2514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220456" y="1600200"/>
            <a:ext cx="457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C9D3D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5.6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8220456" y="1965960"/>
            <a:ext cx="2715768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0B3D6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Mass Assignment</a:t>
            </a:r>
            <a:endParaRPr lang="en-US" sz="1450" dirty="0"/>
          </a:p>
        </p:txBody>
      </p:sp>
      <p:sp>
        <p:nvSpPr>
          <p:cNvPr id="25" name="Text 19"/>
          <p:cNvSpPr/>
          <p:nvPr/>
        </p:nvSpPr>
        <p:spPr>
          <a:xfrm>
            <a:off x="8311896" y="2514600"/>
            <a:ext cx="3172968" cy="20574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E6394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Problem: </a:t>
            </a:r>
            <a:r>
              <a:rPr lang="en-US" sz="1050" dirty="0">
                <a:solidFill>
                  <a:srgbClr val="1C2B3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Sending hidden fields like role or password in a profile update to escalate to admin.</a:t>
            </a:r>
            <a:endParaRPr lang="en-US" sz="1050" dirty="0"/>
          </a:p>
        </p:txBody>
      </p:sp>
      <p:sp>
        <p:nvSpPr>
          <p:cNvPr id="26" name="Text 20"/>
          <p:cNvSpPr/>
          <p:nvPr/>
        </p:nvSpPr>
        <p:spPr>
          <a:xfrm>
            <a:off x="8311896" y="4114800"/>
            <a:ext cx="3172968" cy="1828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E7C7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Solution: </a:t>
            </a:r>
            <a:r>
              <a:rPr lang="en-US" sz="1050" dirty="0">
                <a:solidFill>
                  <a:srgbClr val="1C2B3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Controller uses a strict whitelist of only 5 fields — any other field (role, password, _id) is completely ignored before it reaches the database.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EchoHealth — Backend &amp; Security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ages/pulse_light.png"/>
          <p:cNvPicPr>
            <a:picLocks noChangeAspect="1"/>
          </p:cNvPicPr>
          <p:nvPr/>
        </p:nvPicPr>
        <p:blipFill>
          <a:blip r:embed="rId2">
            <a:alphaModFix amt="90000"/>
          </a:blip>
          <a:stretch>
            <a:fillRect/>
          </a:stretch>
        </p:blipFill>
        <p:spPr>
          <a:xfrm>
            <a:off x="6309360" y="4160520"/>
            <a:ext cx="5486400" cy="10058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1051560"/>
            <a:ext cx="8686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2B8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GRADUATION PROJECT  ·  AI-POWERED CARDIAC SCREENING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-739140" y="4069080"/>
            <a:ext cx="8933180" cy="23196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Machine Learning</a:t>
            </a:r>
            <a:endParaRPr lang="en-US" sz="48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  <a:sym typeface="+mn-ea"/>
            </a:endParaRPr>
          </a:p>
        </p:txBody>
      </p:sp>
      <p:sp>
        <p:nvSpPr>
          <p:cNvPr id="5" name="Text 2"/>
          <p:cNvSpPr/>
          <p:nvPr/>
        </p:nvSpPr>
        <p:spPr>
          <a:xfrm>
            <a:off x="1051560" y="4160520"/>
            <a:ext cx="70408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endParaRPr lang="ar-EG" altLang="en-US" sz="4000" b="1" dirty="0">
              <a:solidFill>
                <a:srgbClr val="FFFFFF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  <a:sym typeface="+mn-ea"/>
            </a:endParaRPr>
          </a:p>
        </p:txBody>
      </p:sp>
      <p:sp>
        <p:nvSpPr>
          <p:cNvPr id="6" name="Shape 3"/>
          <p:cNvSpPr/>
          <p:nvPr/>
        </p:nvSpPr>
        <p:spPr>
          <a:xfrm>
            <a:off x="740410" y="7116445"/>
            <a:ext cx="82296" cy="82296"/>
          </a:xfrm>
          <a:prstGeom prst="ellipse">
            <a:avLst/>
          </a:prstGeom>
          <a:solidFill>
            <a:srgbClr val="12B8A8"/>
          </a:solidFill>
        </p:spPr>
      </p:sp>
      <p:sp>
        <p:nvSpPr>
          <p:cNvPr id="8" name="Shape 5"/>
          <p:cNvSpPr/>
          <p:nvPr/>
        </p:nvSpPr>
        <p:spPr>
          <a:xfrm>
            <a:off x="8092440" y="1234440"/>
            <a:ext cx="3291840" cy="3291840"/>
          </a:xfrm>
          <a:prstGeom prst="ellipse">
            <a:avLst/>
          </a:prstGeom>
          <a:solidFill>
            <a:srgbClr val="13527A">
              <a:alpha val="65000"/>
            </a:srgbClr>
          </a:solidFill>
        </p:spPr>
      </p:sp>
      <p:sp>
        <p:nvSpPr>
          <p:cNvPr id="9" name="Shape 6"/>
          <p:cNvSpPr/>
          <p:nvPr/>
        </p:nvSpPr>
        <p:spPr>
          <a:xfrm>
            <a:off x="8549640" y="1691640"/>
            <a:ext cx="2377440" cy="2377440"/>
          </a:xfrm>
          <a:prstGeom prst="ellipse">
            <a:avLst/>
          </a:prstGeom>
          <a:solidFill>
            <a:srgbClr val="0F3D63"/>
          </a:solidFill>
          <a:ln w="15875">
            <a:solidFill>
              <a:srgbClr val="6FD8CB"/>
            </a:solidFill>
            <a:prstDash val="solid"/>
          </a:ln>
          <a:effectLst>
            <a:outerShdw blurRad="228600" dist="76200" dir="5400000" algn="bl" rotWithShape="0">
              <a:srgbClr val="0A2647">
                <a:alpha val="10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0" y="2057400"/>
            <a:ext cx="1645920" cy="164592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A9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CHAPTER 2 · THE DATA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03327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E4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Dataset Overview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994392" y="310896"/>
            <a:ext cx="1691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B6B7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HeartGuard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320272" y="6455664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 / 10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3246120" cy="1234440"/>
          </a:xfrm>
          <a:prstGeom prst="roundRect">
            <a:avLst>
              <a:gd name="adj" fmla="val 5926"/>
            </a:avLst>
          </a:prstGeom>
          <a:solidFill>
            <a:srgbClr val="0B2E4E"/>
          </a:solidFill>
          <a:effectLst>
            <a:outerShdw blurRad="101600" dist="25400" dir="5400000" algn="bl" rotWithShape="0">
              <a:srgbClr val="0B2E4E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1527048"/>
            <a:ext cx="2880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27,493</a:t>
            </a:r>
            <a:endParaRPr lang="en-US" sz="3600" b="1" dirty="0">
              <a:solidFill>
                <a:srgbClr val="FFFFFF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8" name="Text 6"/>
          <p:cNvSpPr/>
          <p:nvPr/>
        </p:nvSpPr>
        <p:spPr>
          <a:xfrm>
            <a:off x="685800" y="2130552"/>
            <a:ext cx="2880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400" dirty="0">
                <a:solidFill>
                  <a:srgbClr val="CFE3F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Patient Records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977640" y="1417320"/>
            <a:ext cx="3246120" cy="1234440"/>
          </a:xfrm>
          <a:prstGeom prst="roundRect">
            <a:avLst>
              <a:gd name="adj" fmla="val 5926"/>
            </a:avLst>
          </a:prstGeom>
          <a:solidFill>
            <a:srgbClr val="E8F1F8"/>
          </a:solidFill>
          <a:effectLst>
            <a:outerShdw blurRad="101600" dist="25400" dir="5400000" algn="bl" rotWithShape="0">
              <a:srgbClr val="0B2E4E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160520" y="1527048"/>
            <a:ext cx="2880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B2E4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23</a:t>
            </a:r>
            <a:endParaRPr lang="en-US" sz="4000" b="1" dirty="0">
              <a:solidFill>
                <a:srgbClr val="0B2E4E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160520" y="2130552"/>
            <a:ext cx="2880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400" dirty="0">
                <a:solidFill>
                  <a:srgbClr val="5B6B7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Total Columns</a:t>
            </a:r>
            <a:endParaRPr lang="en-US" sz="14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1400" dirty="0">
                <a:solidFill>
                  <a:srgbClr val="5B6B7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(22 features + target)</a:t>
            </a:r>
            <a:endParaRPr lang="en-US" sz="1400" dirty="0">
              <a:solidFill>
                <a:srgbClr val="5B6B7C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02920" y="2880360"/>
            <a:ext cx="3246120" cy="1234440"/>
          </a:xfrm>
          <a:prstGeom prst="roundRect">
            <a:avLst>
              <a:gd name="adj" fmla="val 5926"/>
            </a:avLst>
          </a:prstGeom>
          <a:solidFill>
            <a:srgbClr val="E8F1F8"/>
          </a:solidFill>
          <a:effectLst>
            <a:outerShdw blurRad="101600" dist="25400" dir="5400000" algn="bl" rotWithShape="0">
              <a:srgbClr val="0B2E4E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85800" y="2990088"/>
            <a:ext cx="2880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B2E4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22</a:t>
            </a:r>
            <a:endParaRPr lang="en-US" sz="3600" b="1" dirty="0">
              <a:solidFill>
                <a:srgbClr val="0B2E4E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85800" y="3593592"/>
            <a:ext cx="2880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400" dirty="0">
                <a:solidFill>
                  <a:srgbClr val="5B6B7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Input Features</a:t>
            </a:r>
            <a:endParaRPr lang="en-US" sz="1400" dirty="0">
              <a:solidFill>
                <a:srgbClr val="5B6B7C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977640" y="2880360"/>
            <a:ext cx="3246120" cy="1234440"/>
          </a:xfrm>
          <a:prstGeom prst="roundRect">
            <a:avLst>
              <a:gd name="adj" fmla="val 5926"/>
            </a:avLst>
          </a:prstGeom>
          <a:solidFill>
            <a:srgbClr val="E8F1F8"/>
          </a:solidFill>
          <a:effectLst>
            <a:outerShdw blurRad="101600" dist="25400" dir="5400000" algn="bl" rotWithShape="0">
              <a:srgbClr val="0B2E4E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160520" y="2990088"/>
            <a:ext cx="288036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B2E4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</a:t>
            </a:r>
            <a:endParaRPr lang="en-US" sz="3600" b="1" dirty="0">
              <a:solidFill>
                <a:srgbClr val="0B2E4E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160520" y="3593592"/>
            <a:ext cx="2880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400" dirty="0">
                <a:solidFill>
                  <a:srgbClr val="5B6B7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NHANES Cycles Combined</a:t>
            </a:r>
            <a:endParaRPr lang="en-US" sz="14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1400" dirty="0">
                <a:solidFill>
                  <a:srgbClr val="5B6B7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(2017–2020 &amp; 2021–2023</a:t>
            </a:r>
            <a:r>
              <a:rPr lang="en-US" sz="1050" dirty="0">
                <a:solidFill>
                  <a:srgbClr val="5B6B7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818120" y="1417320"/>
            <a:ext cx="3886200" cy="2606040"/>
          </a:xfrm>
          <a:prstGeom prst="roundRect">
            <a:avLst>
              <a:gd name="adj" fmla="val 2807"/>
            </a:avLst>
          </a:prstGeom>
          <a:solidFill>
            <a:srgbClr val="F4F6F8"/>
          </a:solidFill>
          <a:effectLst>
            <a:outerShdw blurRad="101600" dist="25400" dir="5400000" algn="bl" rotWithShape="0">
              <a:srgbClr val="0B2E4E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046720" y="1581912"/>
            <a:ext cx="3429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0B2E4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TARGET CLASS DISTRIBUTION</a:t>
            </a:r>
            <a:endParaRPr lang="en-US" sz="1400" b="1" kern="0" spc="100" dirty="0">
              <a:solidFill>
                <a:srgbClr val="0B2E4E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8046720" y="1837944"/>
            <a:ext cx="34290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graphicFrame>
        <p:nvGraphicFramePr>
          <p:cNvPr id="21" name="Chart 0"/>
          <p:cNvGraphicFramePr/>
          <p:nvPr/>
        </p:nvGraphicFramePr>
        <p:xfrm>
          <a:off x="7872730" y="1816227"/>
          <a:ext cx="228600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0241280" y="2240280"/>
            <a:ext cx="146304" cy="146304"/>
          </a:xfrm>
          <a:prstGeom prst="ellipse">
            <a:avLst/>
          </a:prstGeom>
          <a:solidFill>
            <a:srgbClr val="155A8A"/>
          </a:solidFill>
        </p:spPr>
      </p:sp>
      <p:sp>
        <p:nvSpPr>
          <p:cNvPr id="23" name="Text 20"/>
          <p:cNvSpPr/>
          <p:nvPr/>
        </p:nvSpPr>
        <p:spPr>
          <a:xfrm>
            <a:off x="10469880" y="2185416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724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Not at risk (~95%)</a:t>
            </a:r>
            <a:endParaRPr lang="en-US" sz="1200" dirty="0">
              <a:solidFill>
                <a:srgbClr val="17242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4" name="Shape 21"/>
          <p:cNvSpPr/>
          <p:nvPr/>
        </p:nvSpPr>
        <p:spPr>
          <a:xfrm>
            <a:off x="10241280" y="2606040"/>
            <a:ext cx="146304" cy="146304"/>
          </a:xfrm>
          <a:prstGeom prst="ellipse">
            <a:avLst/>
          </a:prstGeom>
          <a:solidFill>
            <a:srgbClr val="00A9C7"/>
          </a:solidFill>
        </p:spPr>
      </p:sp>
      <p:sp>
        <p:nvSpPr>
          <p:cNvPr id="25" name="Text 22"/>
          <p:cNvSpPr/>
          <p:nvPr/>
        </p:nvSpPr>
        <p:spPr>
          <a:xfrm>
            <a:off x="10469880" y="2551176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724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At risk (~5%)</a:t>
            </a:r>
            <a:endParaRPr lang="en-US" sz="1200" dirty="0">
              <a:solidFill>
                <a:srgbClr val="17242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8046720" y="3520440"/>
            <a:ext cx="34290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502920" y="4343400"/>
            <a:ext cx="11201400" cy="1828800"/>
          </a:xfrm>
          <a:prstGeom prst="roundRect">
            <a:avLst>
              <a:gd name="adj" fmla="val 4000"/>
            </a:avLst>
          </a:prstGeom>
          <a:solidFill>
            <a:srgbClr val="E8F1F8"/>
          </a:solidFill>
          <a:effectLst>
            <a:outerShdw blurRad="101600" dist="25400" dir="5400000" algn="bl" rotWithShape="0">
              <a:srgbClr val="0B2E4E">
                <a:alpha val="10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777240" y="4636008"/>
            <a:ext cx="502920" cy="502920"/>
          </a:xfrm>
          <a:prstGeom prst="ellipse">
            <a:avLst/>
          </a:prstGeom>
          <a:solidFill>
            <a:srgbClr val="0B2E4E"/>
          </a:solidFill>
        </p:spPr>
      </p:sp>
      <p:pic>
        <p:nvPicPr>
          <p:cNvPr id="29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525" y="4857293"/>
            <a:ext cx="60350" cy="60350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1463040" y="4572000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E4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Dataset Source</a:t>
            </a:r>
            <a:endParaRPr lang="en-US" sz="1400" dirty="0"/>
          </a:p>
        </p:txBody>
      </p:sp>
      <p:sp>
        <p:nvSpPr>
          <p:cNvPr id="31" name="Text 27"/>
          <p:cNvSpPr/>
          <p:nvPr/>
        </p:nvSpPr>
        <p:spPr>
          <a:xfrm>
            <a:off x="1463040" y="4892040"/>
            <a:ext cx="50292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600" dirty="0">
                <a:solidFill>
                  <a:srgbClr val="1724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CDC NHANES — National Health and Nutrition Examination Survey, official U.S. government public health data, combining the 2017–2020 and 2021–2023 survey cycles</a:t>
            </a:r>
            <a:r>
              <a:rPr lang="en-US" sz="1100" dirty="0">
                <a:solidFill>
                  <a:srgbClr val="1724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.</a:t>
            </a:r>
            <a:endParaRPr lang="en-US" sz="1100" dirty="0"/>
          </a:p>
        </p:txBody>
      </p:sp>
      <p:sp>
        <p:nvSpPr>
          <p:cNvPr id="32" name="Shape 28"/>
          <p:cNvSpPr/>
          <p:nvPr/>
        </p:nvSpPr>
        <p:spPr>
          <a:xfrm>
            <a:off x="6766560" y="4572000"/>
            <a:ext cx="0" cy="1371600"/>
          </a:xfrm>
          <a:prstGeom prst="line">
            <a:avLst/>
          </a:prstGeom>
          <a:noFill/>
          <a:ln w="12700">
            <a:solidFill>
              <a:srgbClr val="D6DEE6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6995160" y="457200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E4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Target Variable</a:t>
            </a:r>
            <a:endParaRPr lang="en-US" sz="1400" dirty="0"/>
          </a:p>
        </p:txBody>
      </p:sp>
      <p:sp>
        <p:nvSpPr>
          <p:cNvPr id="34" name="Text 30"/>
          <p:cNvSpPr/>
          <p:nvPr/>
        </p:nvSpPr>
        <p:spPr>
          <a:xfrm>
            <a:off x="6995160" y="4892040"/>
            <a:ext cx="443484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600" b="1" dirty="0">
                <a:solidFill>
                  <a:srgbClr val="155A8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HeartDisease</a:t>
            </a:r>
            <a:r>
              <a:rPr lang="en-US" sz="1600" dirty="0">
                <a:solidFill>
                  <a:srgbClr val="1724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— binary label: 0 = no heart disease, 1 = heart disease present. Structured tabular data spanning demographics, lifestyle, medical history, vital signs, and lab results.</a:t>
            </a:r>
            <a:endParaRPr lang="en-US" sz="1600" dirty="0">
              <a:solidFill>
                <a:srgbClr val="17242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A9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CHAPTER 4 · PREPROCESSING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03327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E4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Data Preprocessing — Understanding the Features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994392" y="310896"/>
            <a:ext cx="1691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B6B7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HeartGuard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320272" y="6455664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 / 10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097280" y="141732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5B6B7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FEATURE TYPE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840480" y="1417320"/>
            <a:ext cx="4160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5B6B7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EXAMPLES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001000" y="1417320"/>
            <a:ext cx="4297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5B6B7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SPECIAL HANDLING IS NEEDED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" y="1801368"/>
            <a:ext cx="11201400" cy="1051560"/>
          </a:xfrm>
          <a:prstGeom prst="roundRect">
            <a:avLst>
              <a:gd name="adj" fmla="val 6957"/>
            </a:avLst>
          </a:prstGeom>
          <a:solidFill>
            <a:srgbClr val="E8F1F8"/>
          </a:solidFill>
        </p:spPr>
        <p:txBody>
          <a:bodyPr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67512" y="2107692"/>
            <a:ext cx="438912" cy="438912"/>
          </a:xfrm>
          <a:prstGeom prst="ellipse">
            <a:avLst/>
          </a:prstGeom>
          <a:solidFill>
            <a:srgbClr val="FFFFFF"/>
          </a:solidFill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5520" y="2265700"/>
            <a:ext cx="122895" cy="122895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097280" y="1911096"/>
            <a:ext cx="2651760" cy="8321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600" b="1" dirty="0">
                <a:solidFill>
                  <a:srgbClr val="0B2E4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Core Numerical Features</a:t>
            </a:r>
            <a:endParaRPr lang="en-US" sz="1600" b="1" dirty="0">
              <a:solidFill>
                <a:srgbClr val="0B2E4E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3840480" y="1911096"/>
            <a:ext cx="4023360" cy="8321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400" dirty="0">
                <a:solidFill>
                  <a:srgbClr val="1724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AgeCategory, BMI, SleepTime, AlcoholDrinking</a:t>
            </a:r>
            <a:endParaRPr lang="en-US" sz="1400" dirty="0">
              <a:solidFill>
                <a:srgbClr val="17242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8001000" y="1911350"/>
            <a:ext cx="3605530" cy="8477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400" dirty="0">
                <a:solidFill>
                  <a:srgbClr val="5B6B7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Continuous measurements always expected in the input; standardized and imputed jointly with lab features.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02920" y="2980944"/>
            <a:ext cx="11201400" cy="1051560"/>
          </a:xfrm>
          <a:prstGeom prst="roundRect">
            <a:avLst>
              <a:gd name="adj" fmla="val 6957"/>
            </a:avLst>
          </a:prstGeom>
          <a:solidFill>
            <a:srgbClr val="F4F6F8"/>
          </a:solidFill>
        </p:spPr>
      </p:sp>
      <p:sp>
        <p:nvSpPr>
          <p:cNvPr id="16" name="Shape 13"/>
          <p:cNvSpPr/>
          <p:nvPr/>
        </p:nvSpPr>
        <p:spPr>
          <a:xfrm>
            <a:off x="667512" y="3287268"/>
            <a:ext cx="438912" cy="438912"/>
          </a:xfrm>
          <a:prstGeom prst="ellipse">
            <a:avLst/>
          </a:prstGeom>
          <a:solidFill>
            <a:srgbClr val="FFFFFF"/>
          </a:solidFill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520" y="3445276"/>
            <a:ext cx="122895" cy="122895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097280" y="3090672"/>
            <a:ext cx="2651760" cy="8321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0B2E4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Optional Laboratory Features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3840480" y="3090672"/>
            <a:ext cx="4023360" cy="8321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400" dirty="0">
                <a:solidFill>
                  <a:srgbClr val="1724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SystolicBP, DiastolicBP, BloodSugar, Cholesterol, HbA1c</a:t>
            </a:r>
            <a:endParaRPr lang="en-US" sz="1400" dirty="0">
              <a:solidFill>
                <a:srgbClr val="17242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0" name="Text 16"/>
          <p:cNvSpPr/>
          <p:nvPr/>
        </p:nvSpPr>
        <p:spPr>
          <a:xfrm>
            <a:off x="8001000" y="3090545"/>
            <a:ext cx="3681095" cy="81661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400" dirty="0">
                <a:solidFill>
                  <a:srgbClr val="5B6B7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May be legitimately absent when a test wasn't performed; need missing-flagging and clinical defaults before scaling.</a:t>
            </a:r>
            <a:endParaRPr lang="en-US" sz="1400" dirty="0">
              <a:solidFill>
                <a:srgbClr val="5B6B7C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1" name="Shape 17"/>
          <p:cNvSpPr/>
          <p:nvPr/>
        </p:nvSpPr>
        <p:spPr>
          <a:xfrm>
            <a:off x="502920" y="4160520"/>
            <a:ext cx="11201400" cy="1051560"/>
          </a:xfrm>
          <a:prstGeom prst="roundRect">
            <a:avLst>
              <a:gd name="adj" fmla="val 6957"/>
            </a:avLst>
          </a:prstGeom>
          <a:solidFill>
            <a:srgbClr val="E8F1F8"/>
          </a:solidFill>
        </p:spPr>
      </p:sp>
      <p:sp>
        <p:nvSpPr>
          <p:cNvPr id="22" name="Shape 18"/>
          <p:cNvSpPr/>
          <p:nvPr/>
        </p:nvSpPr>
        <p:spPr>
          <a:xfrm>
            <a:off x="667512" y="4466844"/>
            <a:ext cx="438912" cy="438912"/>
          </a:xfrm>
          <a:prstGeom prst="ellipse">
            <a:avLst/>
          </a:prstGeom>
          <a:solidFill>
            <a:srgbClr val="FFFFFF"/>
          </a:solidFill>
        </p:spPr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520" y="4624852"/>
            <a:ext cx="122895" cy="122895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097280" y="4270248"/>
            <a:ext cx="2651760" cy="8321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0B2E4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Binary Features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3840480" y="4270248"/>
            <a:ext cx="4023360" cy="8321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400" dirty="0">
                <a:solidFill>
                  <a:srgbClr val="1724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Sex, Smoking, BrainStroke, DiffWalking, Diabetic, and 7 other history indicators</a:t>
            </a:r>
            <a:endParaRPr lang="en-US" sz="1400" dirty="0">
              <a:solidFill>
                <a:srgbClr val="17242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6" name="Text 21"/>
          <p:cNvSpPr/>
          <p:nvPr/>
        </p:nvSpPr>
        <p:spPr>
          <a:xfrm>
            <a:off x="8001000" y="4270375"/>
            <a:ext cx="3591560" cy="7835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400" dirty="0">
                <a:solidFill>
                  <a:srgbClr val="5B6B7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Already encoded as 0/1; passed through without scaling or additional encoding.</a:t>
            </a:r>
            <a:endParaRPr lang="en-US" sz="1400" dirty="0">
              <a:solidFill>
                <a:srgbClr val="5B6B7C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7" name="Shape 22"/>
          <p:cNvSpPr/>
          <p:nvPr/>
        </p:nvSpPr>
        <p:spPr>
          <a:xfrm>
            <a:off x="517525" y="5340096"/>
            <a:ext cx="11201400" cy="1051560"/>
          </a:xfrm>
          <a:prstGeom prst="roundRect">
            <a:avLst>
              <a:gd name="adj" fmla="val 6957"/>
            </a:avLst>
          </a:prstGeom>
          <a:solidFill>
            <a:srgbClr val="F4F6F8"/>
          </a:solidFill>
        </p:spPr>
        <p:txBody>
          <a:bodyPr/>
          <a:p>
            <a:endParaRPr lang="en-US"/>
          </a:p>
        </p:txBody>
      </p:sp>
      <p:sp>
        <p:nvSpPr>
          <p:cNvPr id="28" name="Shape 23"/>
          <p:cNvSpPr/>
          <p:nvPr/>
        </p:nvSpPr>
        <p:spPr>
          <a:xfrm>
            <a:off x="667512" y="5646420"/>
            <a:ext cx="438912" cy="438912"/>
          </a:xfrm>
          <a:prstGeom prst="ellipse">
            <a:avLst/>
          </a:prstGeom>
          <a:solidFill>
            <a:srgbClr val="FFFFFF"/>
          </a:solidFill>
        </p:spPr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520" y="5804428"/>
            <a:ext cx="122895" cy="122895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1097280" y="5449824"/>
            <a:ext cx="2651760" cy="8321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0B2E4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Nominal Features (Race)</a:t>
            </a:r>
            <a:endParaRPr lang="en-US" sz="1250" dirty="0"/>
          </a:p>
        </p:txBody>
      </p:sp>
      <p:sp>
        <p:nvSpPr>
          <p:cNvPr id="31" name="Text 25"/>
          <p:cNvSpPr/>
          <p:nvPr/>
        </p:nvSpPr>
        <p:spPr>
          <a:xfrm>
            <a:off x="3840480" y="5449824"/>
            <a:ext cx="4023360" cy="8321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400" dirty="0">
                <a:solidFill>
                  <a:srgbClr val="1724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Race — 5 categories</a:t>
            </a:r>
            <a:endParaRPr lang="ar-EG" altLang="en-US" sz="1400" dirty="0">
              <a:solidFill>
                <a:srgbClr val="17242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2" name="Text 26"/>
          <p:cNvSpPr/>
          <p:nvPr/>
        </p:nvSpPr>
        <p:spPr>
          <a:xfrm>
            <a:off x="8001000" y="5449570"/>
            <a:ext cx="3785235" cy="7848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400" dirty="0">
                <a:solidFill>
                  <a:srgbClr val="5B6B7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Unordered categorical field; needs One-Hot Encoding rather than a single numeric column to avoid implying rank.</a:t>
            </a:r>
            <a:endParaRPr lang="en-US" sz="1400" dirty="0">
              <a:solidFill>
                <a:srgbClr val="5B6B7C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2B8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TECHNICAL CHALLENGES &amp; SOLUTIONS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822960" y="7315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9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Challenges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508760"/>
            <a:ext cx="4882896" cy="4892040"/>
          </a:xfrm>
          <a:prstGeom prst="roundRect">
            <a:avLst>
              <a:gd name="adj" fmla="val 2434"/>
            </a:avLst>
          </a:prstGeom>
          <a:solidFill>
            <a:srgbClr val="FFFFFF"/>
          </a:solidFill>
          <a:effectLst>
            <a:outerShdw blurRad="228600" dist="76200" dir="5400000" algn="bl" rotWithShape="0">
              <a:srgbClr val="0A2647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83096" y="1508760"/>
            <a:ext cx="4882896" cy="4892040"/>
          </a:xfrm>
          <a:prstGeom prst="roundRect">
            <a:avLst>
              <a:gd name="adj" fmla="val 2434"/>
            </a:avLst>
          </a:prstGeom>
          <a:solidFill>
            <a:srgbClr val="FFFFFF"/>
          </a:solidFill>
          <a:effectLst>
            <a:outerShdw blurRad="228600" dist="76200" dir="5400000" algn="bl" rotWithShape="0">
              <a:srgbClr val="0A2647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811012" y="3671316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7E7F2"/>
            </a:solidFill>
            <a:prstDash val="solid"/>
          </a:ln>
          <a:effectLst>
            <a:outerShdw blurRad="228600" dist="76200" dir="5400000" algn="bl" rotWithShape="0">
              <a:srgbClr val="0A2647">
                <a:alpha val="10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11012" y="3671316"/>
            <a:ext cx="566928" cy="566928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1856232"/>
            <a:ext cx="566928" cy="56692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956816" y="1856232"/>
            <a:ext cx="338328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329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Highly Imbalanced Dataset</a:t>
            </a:r>
            <a:endParaRPr lang="en-US" sz="16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5316" y="2651760"/>
            <a:ext cx="365760" cy="365760"/>
          </a:xfrm>
          <a:prstGeom prst="rect">
            <a:avLst/>
          </a:prstGeom>
        </p:spPr>
      </p:pic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9948" y="2651760"/>
            <a:ext cx="365760" cy="365760"/>
          </a:xfrm>
          <a:prstGeom prst="rect">
            <a:avLst/>
          </a:prstGeom>
        </p:spPr>
      </p:pic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4580" y="2651760"/>
            <a:ext cx="365760" cy="365760"/>
          </a:xfrm>
          <a:prstGeom prst="rect">
            <a:avLst/>
          </a:prstGeom>
        </p:spPr>
      </p:pic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9212" y="2651760"/>
            <a:ext cx="365760" cy="365760"/>
          </a:xfrm>
          <a:prstGeom prst="rect">
            <a:avLst/>
          </a:prstGeom>
        </p:spPr>
      </p:pic>
      <p:pic>
        <p:nvPicPr>
          <p:cNvPr id="14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3844" y="2651760"/>
            <a:ext cx="365760" cy="365760"/>
          </a:xfrm>
          <a:prstGeom prst="rect">
            <a:avLst/>
          </a:prstGeom>
        </p:spPr>
      </p:pic>
      <p:pic>
        <p:nvPicPr>
          <p:cNvPr id="15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8476" y="2651760"/>
            <a:ext cx="365760" cy="365760"/>
          </a:xfrm>
          <a:prstGeom prst="rect">
            <a:avLst/>
          </a:prstGeom>
        </p:spPr>
      </p:pic>
      <p:pic>
        <p:nvPicPr>
          <p:cNvPr id="16" name="Image 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3108" y="2651760"/>
            <a:ext cx="365760" cy="365760"/>
          </a:xfrm>
          <a:prstGeom prst="rect">
            <a:avLst/>
          </a:prstGeom>
        </p:spPr>
      </p:pic>
      <p:pic>
        <p:nvPicPr>
          <p:cNvPr id="17" name="Image 9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7740" y="2651760"/>
            <a:ext cx="365760" cy="365760"/>
          </a:xfrm>
          <a:prstGeom prst="rect">
            <a:avLst/>
          </a:prstGeom>
        </p:spPr>
      </p:pic>
      <p:sp>
        <p:nvSpPr>
          <p:cNvPr id="18" name="Text 6"/>
          <p:cNvSpPr/>
          <p:nvPr/>
        </p:nvSpPr>
        <p:spPr>
          <a:xfrm>
            <a:off x="1188720" y="3127248"/>
            <a:ext cx="415137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FC3D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Healthy patients vs. rare disease-positive cases</a:t>
            </a:r>
            <a:endParaRPr lang="en-US" sz="1000" dirty="0"/>
          </a:p>
        </p:txBody>
      </p:sp>
      <p:sp>
        <p:nvSpPr>
          <p:cNvPr id="19" name="Text 7"/>
          <p:cNvSpPr/>
          <p:nvPr/>
        </p:nvSpPr>
        <p:spPr>
          <a:xfrm>
            <a:off x="1188720" y="3611880"/>
            <a:ext cx="415137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12B8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CHALLENGE</a:t>
            </a:r>
            <a:endParaRPr lang="en-US" sz="1050" dirty="0"/>
          </a:p>
        </p:txBody>
      </p:sp>
      <p:sp>
        <p:nvSpPr>
          <p:cNvPr id="20" name="Text 8"/>
          <p:cNvSpPr/>
          <p:nvPr/>
        </p:nvSpPr>
        <p:spPr>
          <a:xfrm>
            <a:off x="1188720" y="3886200"/>
            <a:ext cx="4151376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5B7A9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Only a small percentage of patients had cardiovascular disease, making the dataset highly imbalanced and causing traditional accuracy to become misleading.</a:t>
            </a:r>
            <a:endParaRPr lang="en-US" sz="1150" dirty="0"/>
          </a:p>
        </p:txBody>
      </p:sp>
      <p:sp>
        <p:nvSpPr>
          <p:cNvPr id="21" name="Text 9"/>
          <p:cNvSpPr/>
          <p:nvPr/>
        </p:nvSpPr>
        <p:spPr>
          <a:xfrm>
            <a:off x="1188720" y="4892040"/>
            <a:ext cx="415137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12B8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SOLUTION</a:t>
            </a:r>
            <a:endParaRPr lang="en-US" sz="1050" dirty="0"/>
          </a:p>
        </p:txBody>
      </p:sp>
      <p:pic>
        <p:nvPicPr>
          <p:cNvPr id="22" name="Image 1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8720" y="5239512"/>
            <a:ext cx="201168" cy="201168"/>
          </a:xfrm>
          <a:prstGeom prst="rect">
            <a:avLst/>
          </a:prstGeom>
        </p:spPr>
      </p:pic>
      <p:sp>
        <p:nvSpPr>
          <p:cNvPr id="23" name="Text 10"/>
          <p:cNvSpPr/>
          <p:nvPr/>
        </p:nvSpPr>
        <p:spPr>
          <a:xfrm>
            <a:off x="1499616" y="5166360"/>
            <a:ext cx="38404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329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SMOTEENN</a:t>
            </a:r>
            <a:endParaRPr lang="en-US" sz="1150" dirty="0"/>
          </a:p>
        </p:txBody>
      </p:sp>
      <p:pic>
        <p:nvPicPr>
          <p:cNvPr id="24" name="Image 1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8720" y="5605272"/>
            <a:ext cx="201168" cy="201168"/>
          </a:xfrm>
          <a:prstGeom prst="rect">
            <a:avLst/>
          </a:prstGeom>
        </p:spPr>
      </p:pic>
      <p:sp>
        <p:nvSpPr>
          <p:cNvPr id="25" name="Text 11"/>
          <p:cNvSpPr/>
          <p:nvPr/>
        </p:nvSpPr>
        <p:spPr>
          <a:xfrm>
            <a:off x="1499616" y="5532120"/>
            <a:ext cx="38404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329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Recall-focused evaluation</a:t>
            </a:r>
            <a:endParaRPr lang="en-US" sz="1150" dirty="0"/>
          </a:p>
        </p:txBody>
      </p:sp>
      <p:pic>
        <p:nvPicPr>
          <p:cNvPr id="26" name="Image 1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8720" y="5971032"/>
            <a:ext cx="201168" cy="201168"/>
          </a:xfrm>
          <a:prstGeom prst="rect">
            <a:avLst/>
          </a:prstGeom>
        </p:spPr>
      </p:pic>
      <p:sp>
        <p:nvSpPr>
          <p:cNvPr id="27" name="Text 12"/>
          <p:cNvSpPr/>
          <p:nvPr/>
        </p:nvSpPr>
        <p:spPr>
          <a:xfrm>
            <a:off x="1499616" y="5897880"/>
            <a:ext cx="38404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329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Threshold optimization</a:t>
            </a:r>
            <a:endParaRPr lang="en-US" sz="1150" dirty="0"/>
          </a:p>
        </p:txBody>
      </p:sp>
      <p:pic>
        <p:nvPicPr>
          <p:cNvPr id="28" name="Image 1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48856" y="1856232"/>
            <a:ext cx="566928" cy="566928"/>
          </a:xfrm>
          <a:prstGeom prst="rect">
            <a:avLst/>
          </a:prstGeom>
        </p:spPr>
      </p:pic>
      <p:sp>
        <p:nvSpPr>
          <p:cNvPr id="29" name="Text 13"/>
          <p:cNvSpPr/>
          <p:nvPr/>
        </p:nvSpPr>
        <p:spPr>
          <a:xfrm>
            <a:off x="7616952" y="1856232"/>
            <a:ext cx="338328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329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Missing Clinical Values</a:t>
            </a:r>
            <a:endParaRPr lang="en-US" sz="1650" dirty="0"/>
          </a:p>
        </p:txBody>
      </p:sp>
      <p:pic>
        <p:nvPicPr>
          <p:cNvPr id="30" name="Image 1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29016" y="2651760"/>
            <a:ext cx="566928" cy="566928"/>
          </a:xfrm>
          <a:prstGeom prst="rect">
            <a:avLst/>
          </a:prstGeom>
        </p:spPr>
      </p:pic>
      <p:pic>
        <p:nvPicPr>
          <p:cNvPr id="31" name="Image 1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96528" y="2807208"/>
            <a:ext cx="256032" cy="256032"/>
          </a:xfrm>
          <a:prstGeom prst="rect">
            <a:avLst/>
          </a:prstGeom>
        </p:spPr>
      </p:pic>
      <p:pic>
        <p:nvPicPr>
          <p:cNvPr id="32" name="Image 1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53144" y="2651760"/>
            <a:ext cx="566928" cy="566928"/>
          </a:xfrm>
          <a:prstGeom prst="rect">
            <a:avLst/>
          </a:prstGeom>
        </p:spPr>
      </p:pic>
      <p:sp>
        <p:nvSpPr>
          <p:cNvPr id="33" name="Text 14"/>
          <p:cNvSpPr/>
          <p:nvPr/>
        </p:nvSpPr>
        <p:spPr>
          <a:xfrm>
            <a:off x="6848856" y="3328416"/>
            <a:ext cx="415137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FC3D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Incomplete records reconstructed using feature relationships</a:t>
            </a:r>
            <a:endParaRPr lang="en-US" sz="1000" dirty="0"/>
          </a:p>
        </p:txBody>
      </p:sp>
      <p:sp>
        <p:nvSpPr>
          <p:cNvPr id="34" name="Text 15"/>
          <p:cNvSpPr/>
          <p:nvPr/>
        </p:nvSpPr>
        <p:spPr>
          <a:xfrm>
            <a:off x="6848856" y="3611880"/>
            <a:ext cx="415137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12B8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CHALLENGE</a:t>
            </a:r>
            <a:endParaRPr lang="en-US" sz="1050" dirty="0"/>
          </a:p>
        </p:txBody>
      </p:sp>
      <p:sp>
        <p:nvSpPr>
          <p:cNvPr id="35" name="Text 16"/>
          <p:cNvSpPr/>
          <p:nvPr/>
        </p:nvSpPr>
        <p:spPr>
          <a:xfrm>
            <a:off x="6848856" y="3886200"/>
            <a:ext cx="4151376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5B7A9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Several laboratory and clinical variables contained missing values that could reduce model performance.</a:t>
            </a:r>
            <a:endParaRPr lang="en-US" sz="1150" dirty="0"/>
          </a:p>
        </p:txBody>
      </p:sp>
      <p:sp>
        <p:nvSpPr>
          <p:cNvPr id="36" name="Text 17"/>
          <p:cNvSpPr/>
          <p:nvPr/>
        </p:nvSpPr>
        <p:spPr>
          <a:xfrm>
            <a:off x="6848856" y="4892040"/>
            <a:ext cx="415137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12B8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SOLUTION</a:t>
            </a:r>
            <a:endParaRPr lang="en-US" sz="1050" dirty="0"/>
          </a:p>
        </p:txBody>
      </p:sp>
      <p:pic>
        <p:nvPicPr>
          <p:cNvPr id="37" name="Image 1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48856" y="5239512"/>
            <a:ext cx="201168" cy="201168"/>
          </a:xfrm>
          <a:prstGeom prst="rect">
            <a:avLst/>
          </a:prstGeom>
        </p:spPr>
      </p:pic>
      <p:sp>
        <p:nvSpPr>
          <p:cNvPr id="38" name="Text 18"/>
          <p:cNvSpPr/>
          <p:nvPr/>
        </p:nvSpPr>
        <p:spPr>
          <a:xfrm>
            <a:off x="7159752" y="5166360"/>
            <a:ext cx="38404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329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Iterative Imputer</a:t>
            </a:r>
            <a:endParaRPr lang="en-US" sz="1150" dirty="0"/>
          </a:p>
        </p:txBody>
      </p:sp>
      <p:pic>
        <p:nvPicPr>
          <p:cNvPr id="39" name="Image 1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48856" y="5605272"/>
            <a:ext cx="201168" cy="201168"/>
          </a:xfrm>
          <a:prstGeom prst="rect">
            <a:avLst/>
          </a:prstGeom>
        </p:spPr>
      </p:pic>
      <p:sp>
        <p:nvSpPr>
          <p:cNvPr id="40" name="Text 19"/>
          <p:cNvSpPr/>
          <p:nvPr/>
        </p:nvSpPr>
        <p:spPr>
          <a:xfrm>
            <a:off x="7159752" y="5532120"/>
            <a:ext cx="38404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329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Preserve patient records</a:t>
            </a:r>
            <a:endParaRPr lang="en-US" sz="1150" dirty="0"/>
          </a:p>
        </p:txBody>
      </p:sp>
      <p:pic>
        <p:nvPicPr>
          <p:cNvPr id="41" name="Image 19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48856" y="5971032"/>
            <a:ext cx="201168" cy="201168"/>
          </a:xfrm>
          <a:prstGeom prst="rect">
            <a:avLst/>
          </a:prstGeom>
        </p:spPr>
      </p:pic>
      <p:sp>
        <p:nvSpPr>
          <p:cNvPr id="42" name="Text 20"/>
          <p:cNvSpPr/>
          <p:nvPr/>
        </p:nvSpPr>
        <p:spPr>
          <a:xfrm>
            <a:off x="7159752" y="5897880"/>
            <a:ext cx="38404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329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Estimate values via feature relationships</a:t>
            </a:r>
            <a:endParaRPr lang="en-US" sz="11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2B8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FROM CHALLENGES TO DEPLOYMENT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822960" y="731520"/>
            <a:ext cx="91440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29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Model Selection Journey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2971800" cy="4526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effectLst>
            <a:outerShdw blurRad="228600" dist="76200" dir="5400000" algn="bl" rotWithShape="0">
              <a:srgbClr val="0A2647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087368" y="1691640"/>
            <a:ext cx="2971800" cy="4526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effectLst>
            <a:outerShdw blurRad="228600" dist="76200" dir="5400000" algn="bl" rotWithShape="0">
              <a:srgbClr val="0A2647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51776" y="1691640"/>
            <a:ext cx="4032504" cy="4526280"/>
          </a:xfrm>
          <a:prstGeom prst="roundRect">
            <a:avLst>
              <a:gd name="adj" fmla="val 2948"/>
            </a:avLst>
          </a:prstGeom>
          <a:solidFill>
            <a:srgbClr val="FFFFFF"/>
          </a:solidFill>
          <a:effectLst>
            <a:outerShdw blurRad="228600" dist="76200" dir="5400000" algn="bl" rotWithShape="0">
              <a:srgbClr val="0A2647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712464" y="372618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7E7F2"/>
            </a:solidFill>
            <a:prstDash val="solid"/>
          </a:ln>
          <a:effectLst>
            <a:outerShdw blurRad="228600" dist="76200" dir="5400000" algn="bl" rotWithShape="0">
              <a:srgbClr val="0A2647">
                <a:alpha val="10000"/>
              </a:srgbClr>
            </a:outerShdw>
          </a:effectLst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12464" y="3726180"/>
            <a:ext cx="457200" cy="4572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976872" y="372618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7E7F2"/>
            </a:solidFill>
            <a:prstDash val="solid"/>
          </a:ln>
          <a:effectLst>
            <a:outerShdw blurRad="228600" dist="76200" dir="5400000" algn="bl" rotWithShape="0">
              <a:srgbClr val="0A2647">
                <a:alpha val="10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76872" y="3726180"/>
            <a:ext cx="457200" cy="457200"/>
          </a:xfrm>
          <a:prstGeom prst="rect">
            <a:avLst/>
          </a:prstGeom>
        </p:spPr>
      </p:pic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7964" y="2011680"/>
            <a:ext cx="621792" cy="62179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05840" y="2734056"/>
            <a:ext cx="2606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50" dirty="0">
                <a:solidFill>
                  <a:srgbClr val="12B8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STEP 1</a:t>
            </a:r>
            <a:endParaRPr lang="en-US" sz="1050" dirty="0"/>
          </a:p>
        </p:txBody>
      </p:sp>
      <p:sp>
        <p:nvSpPr>
          <p:cNvPr id="13" name="Text 8"/>
          <p:cNvSpPr/>
          <p:nvPr/>
        </p:nvSpPr>
        <p:spPr>
          <a:xfrm>
            <a:off x="1005840" y="2990088"/>
            <a:ext cx="26060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329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Evaluate Candidate Models</a:t>
            </a:r>
            <a:endParaRPr lang="en-US" sz="1550" dirty="0"/>
          </a:p>
        </p:txBody>
      </p:sp>
      <p:sp>
        <p:nvSpPr>
          <p:cNvPr id="14" name="Text 9"/>
          <p:cNvSpPr/>
          <p:nvPr/>
        </p:nvSpPr>
        <p:spPr>
          <a:xfrm>
            <a:off x="1078992" y="3657600"/>
            <a:ext cx="2459736" cy="2331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100" dirty="0">
                <a:solidFill>
                  <a:srgbClr val="5B7A9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All models were evaluated under identical conditions using the default threshold (0.50), comparing Recall, F1-Score, Accuracy, and ROC-AUC.</a:t>
            </a:r>
            <a:endParaRPr lang="en-US" sz="11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2372" y="2011680"/>
            <a:ext cx="621792" cy="62179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4270248" y="2734056"/>
            <a:ext cx="2606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50" dirty="0">
                <a:solidFill>
                  <a:srgbClr val="12B8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STEP 2</a:t>
            </a:r>
            <a:endParaRPr lang="en-US" sz="1050" dirty="0"/>
          </a:p>
        </p:txBody>
      </p:sp>
      <p:sp>
        <p:nvSpPr>
          <p:cNvPr id="17" name="Text 11"/>
          <p:cNvSpPr/>
          <p:nvPr/>
        </p:nvSpPr>
        <p:spPr>
          <a:xfrm>
            <a:off x="4270248" y="2990088"/>
            <a:ext cx="26060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329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Select the Best Model</a:t>
            </a:r>
            <a:endParaRPr lang="en-US" sz="1550" dirty="0"/>
          </a:p>
        </p:txBody>
      </p:sp>
      <p:sp>
        <p:nvSpPr>
          <p:cNvPr id="18" name="Text 12"/>
          <p:cNvSpPr/>
          <p:nvPr/>
        </p:nvSpPr>
        <p:spPr>
          <a:xfrm>
            <a:off x="4343400" y="3657600"/>
            <a:ext cx="2459736" cy="2331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100" dirty="0">
                <a:solidFill>
                  <a:srgbClr val="5B7A9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Gradient Boosting was selected for the strongest overall balance for early cardiovascular screening, with excellent discriminative performance.</a:t>
            </a:r>
            <a:endParaRPr lang="en-US" sz="110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7132" y="2011680"/>
            <a:ext cx="621792" cy="62179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7534656" y="2734056"/>
            <a:ext cx="366674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50" dirty="0">
                <a:solidFill>
                  <a:srgbClr val="12B8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STEP 3</a:t>
            </a:r>
            <a:endParaRPr lang="en-US" sz="1050" dirty="0"/>
          </a:p>
        </p:txBody>
      </p:sp>
      <p:sp>
        <p:nvSpPr>
          <p:cNvPr id="21" name="Text 14"/>
          <p:cNvSpPr/>
          <p:nvPr/>
        </p:nvSpPr>
        <p:spPr>
          <a:xfrm>
            <a:off x="7534656" y="2990088"/>
            <a:ext cx="3666744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3293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Threshold Optimization</a:t>
            </a:r>
            <a:endParaRPr lang="en-US" sz="1550" dirty="0"/>
          </a:p>
        </p:txBody>
      </p:sp>
      <p:sp>
        <p:nvSpPr>
          <p:cNvPr id="22" name="Text 15"/>
          <p:cNvSpPr/>
          <p:nvPr/>
        </p:nvSpPr>
        <p:spPr>
          <a:xfrm>
            <a:off x="7443216" y="3502152"/>
            <a:ext cx="3849624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7A9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0.50</a:t>
            </a:r>
            <a:r>
              <a:rPr lang="en-US" sz="900" dirty="0">
                <a:solidFill>
                  <a:srgbClr val="B9CED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› </a:t>
            </a:r>
            <a:r>
              <a:rPr lang="en-US" sz="1000" dirty="0">
                <a:solidFill>
                  <a:srgbClr val="5B7A9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0.40</a:t>
            </a:r>
            <a:r>
              <a:rPr lang="en-US" sz="900" dirty="0">
                <a:solidFill>
                  <a:srgbClr val="B9CED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› </a:t>
            </a:r>
            <a:r>
              <a:rPr lang="en-US" sz="1000" dirty="0">
                <a:solidFill>
                  <a:srgbClr val="5B7A9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0.30</a:t>
            </a:r>
            <a:r>
              <a:rPr lang="en-US" sz="900" dirty="0">
                <a:solidFill>
                  <a:srgbClr val="B9CED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› </a:t>
            </a:r>
            <a:r>
              <a:rPr lang="en-US" sz="1000" dirty="0">
                <a:solidFill>
                  <a:srgbClr val="5B7A9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0.20</a:t>
            </a:r>
            <a:r>
              <a:rPr lang="en-US" sz="900" dirty="0">
                <a:solidFill>
                  <a:srgbClr val="B9CED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› </a:t>
            </a:r>
            <a:r>
              <a:rPr lang="en-US" sz="1000" dirty="0">
                <a:solidFill>
                  <a:srgbClr val="5B7A9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0.15</a:t>
            </a:r>
            <a:r>
              <a:rPr lang="en-US" sz="900" dirty="0">
                <a:solidFill>
                  <a:srgbClr val="B9CED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› </a:t>
            </a:r>
            <a:r>
              <a:rPr lang="en-US" sz="1100" b="1" dirty="0">
                <a:solidFill>
                  <a:srgbClr val="12B8A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★ 0.10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7607808" y="3931920"/>
            <a:ext cx="3520440" cy="2057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100" dirty="0">
                <a:solidFill>
                  <a:srgbClr val="5B7A9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decision threshold was optimized to support screening goals. 0.10 maximized Recall, reducing missed high-risk patients while keeping acceptable performance.</a:t>
            </a:r>
            <a:endParaRPr lang="en-US" sz="1100" dirty="0"/>
          </a:p>
        </p:txBody>
      </p:sp>
      <p:sp>
        <p:nvSpPr>
          <p:cNvPr id="24" name="Text 17"/>
          <p:cNvSpPr/>
          <p:nvPr/>
        </p:nvSpPr>
        <p:spPr>
          <a:xfrm>
            <a:off x="7116775" y="647395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5B7A9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Next: Detailed comparison of all evaluated models</a:t>
            </a:r>
            <a:endParaRPr lang="en-US" sz="1100" dirty="0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16207" y="6492240"/>
            <a:ext cx="201168" cy="201168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A9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CHAPTER 5 · MODEL SELECTION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03327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E4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Comparing Six Candidate Algorithms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994392" y="310896"/>
            <a:ext cx="1691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B6B7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HeartGuard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320272" y="6455664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 / 10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7223760" cy="4117328"/>
          </a:xfrm>
          <a:prstGeom prst="roundRect">
            <a:avLst>
              <a:gd name="adj" fmla="val 1777"/>
            </a:avLst>
          </a:prstGeom>
          <a:solidFill>
            <a:srgbClr val="FFFFFF"/>
          </a:solidFill>
          <a:ln w="12700">
            <a:solidFill>
              <a:srgbClr val="D6DEE6"/>
            </a:solidFill>
            <a:prstDash val="solid"/>
          </a:ln>
          <a:effectLst>
            <a:outerShdw blurRad="101600" dist="25400" dir="5400000" algn="bl" rotWithShape="0">
              <a:srgbClr val="0B2E4E">
                <a:alpha val="10000"/>
              </a:srgbClr>
            </a:outerShdw>
          </a:effectLst>
        </p:spPr>
      </p:sp>
      <p:pic>
        <p:nvPicPr>
          <p:cNvPr id="7" name="Image 0" descr="image2.png"/>
          <p:cNvPicPr>
            <a:picLocks noChangeAspect="1"/>
          </p:cNvPicPr>
          <p:nvPr/>
        </p:nvPicPr>
        <p:blipFill>
          <a:blip r:embed="rId1"/>
          <a:srcRect l="10191" t="31659" r="6462"/>
          <a:stretch>
            <a:fillRect/>
          </a:stretch>
        </p:blipFill>
        <p:spPr>
          <a:xfrm>
            <a:off x="672465" y="1459865"/>
            <a:ext cx="6610350" cy="386207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5488928"/>
            <a:ext cx="6949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6B7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Table 5.2 — Accuracy, Precision, Recall, F1-Score &amp; ROC-AUC across all six candidates (from project documentation)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7818120" y="1463040"/>
            <a:ext cx="3891280" cy="4399280"/>
          </a:xfrm>
          <a:prstGeom prst="roundRect">
            <a:avLst>
              <a:gd name="adj" fmla="val 2254"/>
            </a:avLst>
          </a:prstGeom>
          <a:solidFill>
            <a:srgbClr val="0B2E4E"/>
          </a:solidFill>
          <a:effectLst>
            <a:outerShdw blurRad="101600" dist="25400" dir="5400000" algn="bl" rotWithShape="0">
              <a:srgbClr val="0B2E4E">
                <a:alpha val="10000"/>
              </a:srgbClr>
            </a:outerShdw>
          </a:effectLst>
        </p:spPr>
      </p:sp>
      <p:grpSp>
        <p:nvGrpSpPr>
          <p:cNvPr id="24" name="Group 23"/>
          <p:cNvGrpSpPr/>
          <p:nvPr/>
        </p:nvGrpSpPr>
        <p:grpSpPr>
          <a:xfrm rot="0">
            <a:off x="8046720" y="1788160"/>
            <a:ext cx="3475990" cy="3533140"/>
            <a:chOff x="12744" y="2664"/>
            <a:chExt cx="5256" cy="4060"/>
          </a:xfrm>
        </p:grpSpPr>
        <p:sp>
          <p:nvSpPr>
            <p:cNvPr id="10" name="Text 7"/>
            <p:cNvSpPr/>
            <p:nvPr/>
          </p:nvSpPr>
          <p:spPr>
            <a:xfrm>
              <a:off x="12744" y="2664"/>
              <a:ext cx="5256" cy="43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 kern="0" spc="150" dirty="0">
                  <a:solidFill>
                    <a:srgbClr val="00A9C7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FINAL SELECTED MODEL</a:t>
              </a:r>
              <a:endParaRPr lang="en-US" sz="1050" dirty="0"/>
            </a:p>
          </p:txBody>
        </p:sp>
        <p:sp>
          <p:nvSpPr>
            <p:cNvPr id="11" name="Text 8"/>
            <p:cNvSpPr/>
            <p:nvPr/>
          </p:nvSpPr>
          <p:spPr>
            <a:xfrm>
              <a:off x="12744" y="3096"/>
              <a:ext cx="5256" cy="136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lnSpc>
                  <a:spcPts val="2400"/>
                </a:lnSpc>
                <a:buNone/>
              </a:pPr>
              <a:r>
                <a:rPr lang="en-US" sz="2200" b="1" dirty="0">
                  <a:solidFill>
                    <a:srgbClr val="FFFFFF"/>
                  </a:solidFill>
                  <a:latin typeface="Cambria" panose="02040503050406030204" pitchFamily="34" charset="0"/>
                  <a:ea typeface="Cambria" panose="02040503050406030204" pitchFamily="34" charset="-122"/>
                  <a:cs typeface="Cambria" panose="02040503050406030204" pitchFamily="34" charset="-120"/>
                </a:rPr>
                <a:t>Gradient Boosting</a:t>
              </a:r>
              <a:endParaRPr lang="en-US" sz="2200" dirty="0"/>
            </a:p>
            <a:p>
              <a:pPr marL="0" indent="0">
                <a:lnSpc>
                  <a:spcPts val="2400"/>
                </a:lnSpc>
                <a:buNone/>
              </a:pPr>
              <a:r>
                <a:rPr lang="en-US" sz="2200" b="1" dirty="0">
                  <a:solidFill>
                    <a:srgbClr val="FFFFFF"/>
                  </a:solidFill>
                  <a:latin typeface="Cambria" panose="02040503050406030204" pitchFamily="34" charset="0"/>
                  <a:ea typeface="Cambria" panose="02040503050406030204" pitchFamily="34" charset="-122"/>
                  <a:cs typeface="Cambria" panose="02040503050406030204" pitchFamily="34" charset="-120"/>
                </a:rPr>
                <a:t>Classifier</a:t>
              </a:r>
              <a:endParaRPr lang="en-US" sz="2200" dirty="0"/>
            </a:p>
          </p:txBody>
        </p:sp>
        <p:sp>
          <p:nvSpPr>
            <p:cNvPr id="12" name="Text 9"/>
            <p:cNvSpPr/>
            <p:nvPr/>
          </p:nvSpPr>
          <p:spPr>
            <a:xfrm>
              <a:off x="12744" y="4536"/>
              <a:ext cx="2736" cy="461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BFD6E6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Accuracy</a:t>
              </a:r>
              <a:endParaRPr lang="en-US" sz="1100" dirty="0"/>
            </a:p>
          </p:txBody>
        </p:sp>
        <p:sp>
          <p:nvSpPr>
            <p:cNvPr id="13" name="Text 10"/>
            <p:cNvSpPr/>
            <p:nvPr/>
          </p:nvSpPr>
          <p:spPr>
            <a:xfrm>
              <a:off x="15120" y="4536"/>
              <a:ext cx="2880" cy="461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150" b="1" dirty="0">
                  <a:solidFill>
                    <a:srgbClr val="FFFFFF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95.27%</a:t>
              </a:r>
              <a:endParaRPr lang="en-US" sz="1150" dirty="0"/>
            </a:p>
          </p:txBody>
        </p:sp>
        <p:sp>
          <p:nvSpPr>
            <p:cNvPr id="14" name="Text 11"/>
            <p:cNvSpPr/>
            <p:nvPr/>
          </p:nvSpPr>
          <p:spPr>
            <a:xfrm>
              <a:off x="12744" y="5112"/>
              <a:ext cx="2736" cy="461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BFD6E6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Precision</a:t>
              </a:r>
              <a:endParaRPr lang="en-US" sz="1100" dirty="0"/>
            </a:p>
          </p:txBody>
        </p:sp>
        <p:sp>
          <p:nvSpPr>
            <p:cNvPr id="15" name="Text 12"/>
            <p:cNvSpPr/>
            <p:nvPr/>
          </p:nvSpPr>
          <p:spPr>
            <a:xfrm>
              <a:off x="15120" y="5112"/>
              <a:ext cx="2880" cy="461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150" b="1" dirty="0">
                  <a:solidFill>
                    <a:srgbClr val="FFFFFF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52.59%</a:t>
              </a:r>
              <a:endParaRPr lang="en-US" sz="1150" dirty="0"/>
            </a:p>
          </p:txBody>
        </p:sp>
        <p:sp>
          <p:nvSpPr>
            <p:cNvPr id="16" name="Text 13"/>
            <p:cNvSpPr/>
            <p:nvPr/>
          </p:nvSpPr>
          <p:spPr>
            <a:xfrm>
              <a:off x="12744" y="5688"/>
              <a:ext cx="2736" cy="461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BFD6E6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Recall</a:t>
              </a:r>
              <a:endParaRPr lang="en-US" sz="1100" dirty="0"/>
            </a:p>
          </p:txBody>
        </p:sp>
        <p:sp>
          <p:nvSpPr>
            <p:cNvPr id="17" name="Text 14"/>
            <p:cNvSpPr/>
            <p:nvPr/>
          </p:nvSpPr>
          <p:spPr>
            <a:xfrm>
              <a:off x="15120" y="5688"/>
              <a:ext cx="2880" cy="461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150" b="1" dirty="0">
                  <a:solidFill>
                    <a:srgbClr val="FFFFFF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70%%</a:t>
              </a:r>
              <a:endParaRPr lang="en-US" sz="1150" dirty="0"/>
            </a:p>
          </p:txBody>
        </p:sp>
        <p:sp>
          <p:nvSpPr>
            <p:cNvPr id="18" name="Text 15"/>
            <p:cNvSpPr/>
            <p:nvPr/>
          </p:nvSpPr>
          <p:spPr>
            <a:xfrm>
              <a:off x="12744" y="6264"/>
              <a:ext cx="2736" cy="461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BFD6E6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F1-Score</a:t>
              </a:r>
              <a:endParaRPr lang="en-US" sz="1100" dirty="0"/>
            </a:p>
          </p:txBody>
        </p:sp>
        <p:sp>
          <p:nvSpPr>
            <p:cNvPr id="19" name="Text 16"/>
            <p:cNvSpPr/>
            <p:nvPr/>
          </p:nvSpPr>
          <p:spPr>
            <a:xfrm>
              <a:off x="15120" y="6264"/>
              <a:ext cx="2880" cy="461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150" b="1" dirty="0">
                  <a:solidFill>
                    <a:srgbClr val="FFFFFF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59.75%</a:t>
              </a:r>
              <a:endParaRPr lang="en-US" sz="1150" dirty="0"/>
            </a:p>
          </p:txBody>
        </p:sp>
      </p:grpSp>
      <p:sp>
        <p:nvSpPr>
          <p:cNvPr id="20" name="Text 17"/>
          <p:cNvSpPr/>
          <p:nvPr/>
        </p:nvSpPr>
        <p:spPr>
          <a:xfrm>
            <a:off x="8046720" y="5306060"/>
            <a:ext cx="1809115" cy="401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FD6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ROC-AUC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9618345" y="5306060"/>
            <a:ext cx="1904365" cy="401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95.67% (highest)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8399145" y="5042535"/>
            <a:ext cx="342900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A9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CHAPTER 5 · RATIONALE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03327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E4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Why Gradient Boosting?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994392" y="310896"/>
            <a:ext cx="1691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B6B7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HeartGuard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320272" y="6455664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 / 10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5194935" cy="2087245"/>
          </a:xfrm>
          <a:prstGeom prst="roundRect">
            <a:avLst>
              <a:gd name="adj" fmla="val 3137"/>
            </a:avLst>
          </a:prstGeom>
          <a:solidFill>
            <a:srgbClr val="E8F1F8"/>
          </a:solidFill>
          <a:effectLst>
            <a:outerShdw blurRad="101600" dist="25400" dir="5400000" algn="bl" rotWithShape="0">
              <a:srgbClr val="0B2E4E">
                <a:alpha val="10000"/>
              </a:srgbClr>
            </a:outerShdw>
          </a:effectLst>
        </p:spPr>
        <p:txBody>
          <a:bodyPr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31520" y="1645920"/>
            <a:ext cx="566928" cy="566928"/>
          </a:xfrm>
          <a:prstGeom prst="ellipse">
            <a:avLst/>
          </a:prstGeom>
          <a:solidFill>
            <a:srgbClr val="155A8A"/>
          </a:solidFill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6953" y="1861353"/>
            <a:ext cx="136063" cy="13606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2331720"/>
            <a:ext cx="465264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2400" b="1" dirty="0">
                <a:solidFill>
                  <a:srgbClr val="0B2E4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Balanced Performance</a:t>
            </a:r>
            <a:endParaRPr lang="en-US" sz="2400" b="1" dirty="0">
              <a:solidFill>
                <a:srgbClr val="0B2E4E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731520" y="2834640"/>
            <a:ext cx="472821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dirty="0">
                <a:solidFill>
                  <a:srgbClr val="1724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Strong, well-rounded results across Accuracy, Precision, Recall and F1 rather than excelling at just one metric.</a:t>
            </a:r>
            <a:endParaRPr lang="en-US" dirty="0">
              <a:solidFill>
                <a:srgbClr val="17242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502920" y="3750945"/>
            <a:ext cx="5194935" cy="2203450"/>
          </a:xfrm>
          <a:prstGeom prst="roundRect">
            <a:avLst>
              <a:gd name="adj" fmla="val 3137"/>
            </a:avLst>
          </a:prstGeom>
          <a:solidFill>
            <a:srgbClr val="E8F1F8"/>
          </a:solidFill>
          <a:effectLst>
            <a:outerShdw blurRad="101600" dist="25400" dir="5400000" algn="bl" rotWithShape="0">
              <a:srgbClr val="0B2E4E">
                <a:alpha val="10000"/>
              </a:srgbClr>
            </a:outerShdw>
          </a:effectLst>
        </p:spPr>
        <p:txBody>
          <a:bodyPr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731520" y="4041775"/>
            <a:ext cx="567055" cy="567055"/>
          </a:xfrm>
          <a:prstGeom prst="ellipse">
            <a:avLst/>
          </a:prstGeom>
          <a:solidFill>
            <a:srgbClr val="155A8A"/>
          </a:solidFill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420" y="4277995"/>
            <a:ext cx="135890" cy="13589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40105" y="4641850"/>
            <a:ext cx="31546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600" b="1" dirty="0">
                <a:solidFill>
                  <a:srgbClr val="0B2E4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Highest ROC-AUC (95.67%)</a:t>
            </a:r>
            <a:endParaRPr lang="en-US" sz="1600" b="1" dirty="0">
              <a:solidFill>
                <a:srgbClr val="0B2E4E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731520" y="4860925"/>
            <a:ext cx="4652645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600" dirty="0">
                <a:solidFill>
                  <a:srgbClr val="1724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Best discrimination between at-risk and not-at-risk patients of all six candidates, independent of threshold.</a:t>
            </a:r>
            <a:endParaRPr lang="en-US" sz="1600" dirty="0">
              <a:solidFill>
                <a:srgbClr val="17242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41" name="Shape 6"/>
          <p:cNvSpPr/>
          <p:nvPr/>
        </p:nvSpPr>
        <p:spPr>
          <a:xfrm>
            <a:off x="6336030" y="1478280"/>
            <a:ext cx="4979670" cy="4399280"/>
          </a:xfrm>
          <a:prstGeom prst="roundRect">
            <a:avLst>
              <a:gd name="adj" fmla="val 2254"/>
            </a:avLst>
          </a:prstGeom>
          <a:solidFill>
            <a:srgbClr val="0B2E4E"/>
          </a:solidFill>
          <a:effectLst>
            <a:outerShdw blurRad="101600" dist="25400" dir="5400000" algn="bl" rotWithShape="0">
              <a:srgbClr val="0B2E4E">
                <a:alpha val="10000"/>
              </a:srgbClr>
            </a:outerShdw>
          </a:effectLst>
        </p:spPr>
        <p:txBody>
          <a:bodyPr/>
          <a:p>
            <a:endParaRPr lang="en-US"/>
          </a:p>
        </p:txBody>
      </p:sp>
      <p:grpSp>
        <p:nvGrpSpPr>
          <p:cNvPr id="42" name="Group 41"/>
          <p:cNvGrpSpPr/>
          <p:nvPr/>
        </p:nvGrpSpPr>
        <p:grpSpPr>
          <a:xfrm rot="0">
            <a:off x="6970395" y="1657558"/>
            <a:ext cx="3475990" cy="3596667"/>
            <a:chOff x="12744" y="2592"/>
            <a:chExt cx="5256" cy="4133"/>
          </a:xfrm>
        </p:grpSpPr>
        <p:sp>
          <p:nvSpPr>
            <p:cNvPr id="43" name="Text 7"/>
            <p:cNvSpPr/>
            <p:nvPr/>
          </p:nvSpPr>
          <p:spPr>
            <a:xfrm>
              <a:off x="12744" y="2592"/>
              <a:ext cx="5256" cy="432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 kern="0" spc="150" dirty="0">
                  <a:solidFill>
                    <a:srgbClr val="00A9C7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FINAL SELECTED MODEL</a:t>
              </a:r>
              <a:endParaRPr lang="en-US" sz="1050" dirty="0"/>
            </a:p>
          </p:txBody>
        </p:sp>
        <p:sp>
          <p:nvSpPr>
            <p:cNvPr id="44" name="Text 8"/>
            <p:cNvSpPr/>
            <p:nvPr/>
          </p:nvSpPr>
          <p:spPr>
            <a:xfrm>
              <a:off x="12744" y="3096"/>
              <a:ext cx="5256" cy="136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lnSpc>
                  <a:spcPts val="2400"/>
                </a:lnSpc>
                <a:buNone/>
              </a:pPr>
              <a:r>
                <a:rPr lang="en-US" sz="2800" b="1" dirty="0">
                  <a:solidFill>
                    <a:srgbClr val="FFFFFF"/>
                  </a:solidFill>
                  <a:latin typeface="Cambria" panose="02040503050406030204" pitchFamily="34" charset="0"/>
                  <a:ea typeface="Cambria" panose="02040503050406030204" pitchFamily="34" charset="-122"/>
                  <a:cs typeface="Cambria" panose="02040503050406030204" pitchFamily="34" charset="-120"/>
                </a:rPr>
                <a:t>Gradient Boosting</a:t>
              </a:r>
              <a:endParaRPr lang="en-US" sz="2800" dirty="0"/>
            </a:p>
            <a:p>
              <a:pPr marL="0" indent="0">
                <a:lnSpc>
                  <a:spcPts val="2400"/>
                </a:lnSpc>
                <a:buNone/>
              </a:pPr>
              <a:r>
                <a:rPr lang="en-US" sz="2800" b="1" dirty="0">
                  <a:solidFill>
                    <a:srgbClr val="FFFFFF"/>
                  </a:solidFill>
                  <a:latin typeface="Cambria" panose="02040503050406030204" pitchFamily="34" charset="0"/>
                  <a:ea typeface="Cambria" panose="02040503050406030204" pitchFamily="34" charset="-122"/>
                  <a:cs typeface="Cambria" panose="02040503050406030204" pitchFamily="34" charset="-120"/>
                </a:rPr>
                <a:t>Classifier</a:t>
              </a:r>
              <a:endParaRPr lang="en-US" sz="2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endParaRPr>
            </a:p>
          </p:txBody>
        </p:sp>
        <p:sp>
          <p:nvSpPr>
            <p:cNvPr id="45" name="Text 9"/>
            <p:cNvSpPr/>
            <p:nvPr/>
          </p:nvSpPr>
          <p:spPr>
            <a:xfrm>
              <a:off x="12744" y="4536"/>
              <a:ext cx="2736" cy="461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BFD6E6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Accuracy</a:t>
              </a:r>
              <a:endParaRPr lang="en-US" sz="1600" dirty="0">
                <a:solidFill>
                  <a:srgbClr val="BFD6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endParaRPr>
            </a:p>
          </p:txBody>
        </p:sp>
        <p:sp>
          <p:nvSpPr>
            <p:cNvPr id="46" name="Text 10"/>
            <p:cNvSpPr/>
            <p:nvPr/>
          </p:nvSpPr>
          <p:spPr>
            <a:xfrm>
              <a:off x="15120" y="4536"/>
              <a:ext cx="2880" cy="461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83%</a:t>
              </a:r>
              <a:endPara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endParaRPr>
            </a:p>
          </p:txBody>
        </p:sp>
        <p:sp>
          <p:nvSpPr>
            <p:cNvPr id="47" name="Text 11"/>
            <p:cNvSpPr/>
            <p:nvPr/>
          </p:nvSpPr>
          <p:spPr>
            <a:xfrm>
              <a:off x="12744" y="5112"/>
              <a:ext cx="2736" cy="461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BFD6E6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Precision</a:t>
              </a:r>
              <a:endParaRPr lang="en-US" sz="1600" dirty="0">
                <a:solidFill>
                  <a:srgbClr val="BFD6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endParaRPr>
            </a:p>
          </p:txBody>
        </p:sp>
        <p:sp>
          <p:nvSpPr>
            <p:cNvPr id="48" name="Text 12"/>
            <p:cNvSpPr/>
            <p:nvPr/>
          </p:nvSpPr>
          <p:spPr>
            <a:xfrm>
              <a:off x="15120" y="5112"/>
              <a:ext cx="2880" cy="461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21%%</a:t>
              </a:r>
              <a:endPara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endParaRPr>
            </a:p>
          </p:txBody>
        </p:sp>
        <p:sp>
          <p:nvSpPr>
            <p:cNvPr id="49" name="Text 13"/>
            <p:cNvSpPr/>
            <p:nvPr/>
          </p:nvSpPr>
          <p:spPr>
            <a:xfrm>
              <a:off x="12744" y="5688"/>
              <a:ext cx="2736" cy="461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BFD6E6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Recall</a:t>
              </a:r>
              <a:endParaRPr lang="en-US" sz="1600" dirty="0">
                <a:solidFill>
                  <a:srgbClr val="BFD6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endParaRPr>
            </a:p>
          </p:txBody>
        </p:sp>
        <p:sp>
          <p:nvSpPr>
            <p:cNvPr id="50" name="Text 14"/>
            <p:cNvSpPr/>
            <p:nvPr/>
          </p:nvSpPr>
          <p:spPr>
            <a:xfrm>
              <a:off x="15120" y="5688"/>
              <a:ext cx="2880" cy="461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2000" b="1" dirty="0">
                  <a:solidFill>
                    <a:schemeClr val="bg1"/>
                  </a:solidFill>
                </a:rPr>
                <a:t>92%</a:t>
              </a:r>
              <a:endParaRPr lang="en-US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51" name="Text 15"/>
            <p:cNvSpPr/>
            <p:nvPr/>
          </p:nvSpPr>
          <p:spPr>
            <a:xfrm>
              <a:off x="12744" y="6264"/>
              <a:ext cx="2736" cy="461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BFD6E6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F1-Score</a:t>
              </a:r>
              <a:endParaRPr lang="en-US" sz="1600" dirty="0">
                <a:solidFill>
                  <a:srgbClr val="BFD6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endParaRPr>
            </a:p>
          </p:txBody>
        </p:sp>
        <p:sp>
          <p:nvSpPr>
            <p:cNvPr id="52" name="Text 16"/>
            <p:cNvSpPr/>
            <p:nvPr/>
          </p:nvSpPr>
          <p:spPr>
            <a:xfrm>
              <a:off x="15120" y="6264"/>
              <a:ext cx="2880" cy="461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altLang="en-US" sz="1400" b="1" dirty="0">
                  <a:solidFill>
                    <a:srgbClr val="FFFFFF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35.45</a:t>
              </a:r>
              <a:r>
                <a:rPr lang="en-US" sz="1400" b="1" dirty="0">
                  <a:solidFill>
                    <a:srgbClr val="FFFFFF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%</a:t>
              </a:r>
              <a:endPara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endParaRPr>
            </a:p>
          </p:txBody>
        </p:sp>
      </p:grpSp>
      <p:sp>
        <p:nvSpPr>
          <p:cNvPr id="53" name="Text 17"/>
          <p:cNvSpPr/>
          <p:nvPr/>
        </p:nvSpPr>
        <p:spPr>
          <a:xfrm>
            <a:off x="6970395" y="5354320"/>
            <a:ext cx="1809115" cy="401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FD6E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ROC-AUC</a:t>
            </a:r>
            <a:endParaRPr lang="en-US" sz="1600" dirty="0">
              <a:solidFill>
                <a:srgbClr val="BFD6E6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54" name="Text 18"/>
          <p:cNvSpPr/>
          <p:nvPr/>
        </p:nvSpPr>
        <p:spPr>
          <a:xfrm>
            <a:off x="8542020" y="5354320"/>
            <a:ext cx="1904365" cy="401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95.67% (highest)</a:t>
            </a:r>
            <a:endParaRPr lang="en-US" sz="14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A9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CHAPTER 7 · RESULTS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03327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E4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Confusion Matrix at the Deployed Threshold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994392" y="310896"/>
            <a:ext cx="1691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B6B7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HeartGuard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320272" y="6455664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07 / 10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6309360" cy="3392424"/>
          </a:xfrm>
          <a:prstGeom prst="roundRect">
            <a:avLst>
              <a:gd name="adj" fmla="val 2156"/>
            </a:avLst>
          </a:prstGeom>
          <a:solidFill>
            <a:srgbClr val="FFFFFF"/>
          </a:solidFill>
          <a:ln w="12700">
            <a:solidFill>
              <a:srgbClr val="D6DEE6"/>
            </a:solidFill>
            <a:prstDash val="solid"/>
          </a:ln>
          <a:effectLst>
            <a:outerShdw blurRad="101600" dist="25400" dir="5400000" algn="bl" rotWithShape="0">
              <a:srgbClr val="0B2E4E">
                <a:alpha val="10000"/>
              </a:srgbClr>
            </a:outerShdw>
          </a:effectLst>
        </p:spPr>
      </p:sp>
      <p:pic>
        <p:nvPicPr>
          <p:cNvPr id="7" name="Image 0" descr="image4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600200"/>
            <a:ext cx="6035040" cy="311810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4901184"/>
            <a:ext cx="60350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B6B7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Figure — Confusion matrix, Gradient Boosting classifier, threshold = 0.10 (project documentation)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903720" y="1600200"/>
            <a:ext cx="4800600" cy="960120"/>
          </a:xfrm>
          <a:prstGeom prst="roundRect">
            <a:avLst>
              <a:gd name="adj" fmla="val 7619"/>
            </a:avLst>
          </a:prstGeom>
          <a:solidFill>
            <a:srgbClr val="F4F6F8"/>
          </a:solidFill>
        </p:spPr>
      </p:sp>
      <p:sp>
        <p:nvSpPr>
          <p:cNvPr id="10" name="Text 7"/>
          <p:cNvSpPr/>
          <p:nvPr/>
        </p:nvSpPr>
        <p:spPr>
          <a:xfrm>
            <a:off x="7132320" y="169164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E4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True Positive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0149840" y="1673352"/>
            <a:ext cx="13258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155A8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257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7132320" y="2103120"/>
            <a:ext cx="4343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B7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Correctly identified as at-risk</a:t>
            </a:r>
            <a:endParaRPr lang="en-US" sz="1600" dirty="0">
              <a:solidFill>
                <a:srgbClr val="5B6B7C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6903720" y="2697480"/>
            <a:ext cx="4800600" cy="960120"/>
          </a:xfrm>
          <a:prstGeom prst="roundRect">
            <a:avLst>
              <a:gd name="adj" fmla="val 7619"/>
            </a:avLst>
          </a:prstGeom>
          <a:solidFill>
            <a:srgbClr val="F4F6F8"/>
          </a:solidFill>
        </p:spPr>
      </p:sp>
      <p:sp>
        <p:nvSpPr>
          <p:cNvPr id="14" name="Text 11"/>
          <p:cNvSpPr/>
          <p:nvPr/>
        </p:nvSpPr>
        <p:spPr>
          <a:xfrm>
            <a:off x="7132320" y="278892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E4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True Negative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0149840" y="2770632"/>
            <a:ext cx="13258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155A8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4,306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7132320" y="3200400"/>
            <a:ext cx="4343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Correctly identified as healthy</a:t>
            </a:r>
            <a:endParaRPr lang="en-US" sz="1400" dirty="0">
              <a:solidFill>
                <a:srgbClr val="5B6B7C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6903720" y="3794760"/>
            <a:ext cx="4800600" cy="960120"/>
          </a:xfrm>
          <a:prstGeom prst="roundRect">
            <a:avLst>
              <a:gd name="adj" fmla="val 7619"/>
            </a:avLst>
          </a:prstGeom>
          <a:solidFill>
            <a:srgbClr val="F4F6F8"/>
          </a:solidFill>
        </p:spPr>
      </p:sp>
      <p:sp>
        <p:nvSpPr>
          <p:cNvPr id="18" name="Text 15"/>
          <p:cNvSpPr/>
          <p:nvPr/>
        </p:nvSpPr>
        <p:spPr>
          <a:xfrm>
            <a:off x="7132320" y="388620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E4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False Positive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0149840" y="3867912"/>
            <a:ext cx="13258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155A8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914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7132320" y="4297680"/>
            <a:ext cx="4343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Healthy patient flagged as at-risk</a:t>
            </a:r>
            <a:endParaRPr lang="en-US" sz="1400" dirty="0">
              <a:solidFill>
                <a:srgbClr val="5B6B7C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6903720" y="4892040"/>
            <a:ext cx="4800600" cy="960120"/>
          </a:xfrm>
          <a:prstGeom prst="roundRect">
            <a:avLst>
              <a:gd name="adj" fmla="val 7619"/>
            </a:avLst>
          </a:prstGeom>
          <a:solidFill>
            <a:srgbClr val="E8F1F8"/>
          </a:solidFill>
        </p:spPr>
      </p:sp>
      <p:sp>
        <p:nvSpPr>
          <p:cNvPr id="22" name="Text 19"/>
          <p:cNvSpPr/>
          <p:nvPr/>
        </p:nvSpPr>
        <p:spPr>
          <a:xfrm>
            <a:off x="7132320" y="498348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E4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False Negative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10149840" y="4965192"/>
            <a:ext cx="13258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155A8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22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7132320" y="5394960"/>
            <a:ext cx="4343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At-risk patient missed</a:t>
            </a:r>
            <a:endParaRPr lang="en-US" sz="1200" dirty="0">
              <a:solidFill>
                <a:srgbClr val="5B6B7C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5" name="Shape 22"/>
          <p:cNvSpPr/>
          <p:nvPr/>
        </p:nvSpPr>
        <p:spPr>
          <a:xfrm>
            <a:off x="502920" y="5403850"/>
            <a:ext cx="6172835" cy="882650"/>
          </a:xfrm>
          <a:prstGeom prst="roundRect">
            <a:avLst>
              <a:gd name="adj" fmla="val 8421"/>
            </a:avLst>
          </a:prstGeom>
          <a:solidFill>
            <a:srgbClr val="0B2E4E"/>
          </a:solidFill>
          <a:effectLst>
            <a:outerShdw blurRad="101600" dist="25400" dir="5400000" algn="bl" rotWithShape="0">
              <a:srgbClr val="0B2E4E">
                <a:alpha val="10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542925" y="5449570"/>
            <a:ext cx="5995035" cy="7747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Interpretation: at the deployed 0.10 threshold, HeartGuard misses only 22 of 279 at-risk patients (92.1% Recall) at the cost of 914 false alarms — an intentional, clinically-motivated trade-off for a screening tool where an unnecessary check-up is far less costly than an undetected risk.</a:t>
            </a:r>
            <a:endParaRPr lang="en-US" sz="11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A9C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EXPLAINABILITY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03327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E4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From Model Predictions to Clinical Insights</a:t>
            </a:r>
            <a:endParaRPr lang="en-US" sz="3000" b="1" dirty="0">
              <a:solidFill>
                <a:srgbClr val="0B2E4E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4" name="Text 2"/>
          <p:cNvSpPr/>
          <p:nvPr/>
        </p:nvSpPr>
        <p:spPr>
          <a:xfrm>
            <a:off x="9994392" y="310896"/>
            <a:ext cx="1691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B6B7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HeartGuard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1320272" y="6455664"/>
            <a:ext cx="640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08 / 10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5669280" cy="3870960"/>
          </a:xfrm>
          <a:prstGeom prst="roundRect">
            <a:avLst>
              <a:gd name="adj" fmla="val 1890"/>
            </a:avLst>
          </a:prstGeom>
          <a:solidFill>
            <a:srgbClr val="FFFFFF"/>
          </a:solidFill>
          <a:ln w="12700">
            <a:solidFill>
              <a:srgbClr val="D6DEE6"/>
            </a:solidFill>
            <a:prstDash val="solid"/>
          </a:ln>
          <a:effectLst>
            <a:outerShdw blurRad="101600" dist="25400" dir="5400000" algn="bl" rotWithShape="0">
              <a:srgbClr val="0B2E4E">
                <a:alpha val="10000"/>
              </a:srgbClr>
            </a:outerShdw>
          </a:effectLst>
        </p:spPr>
      </p:sp>
      <p:pic>
        <p:nvPicPr>
          <p:cNvPr id="7" name="Image 0" descr="image7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600200"/>
            <a:ext cx="5394960" cy="3596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5334000"/>
            <a:ext cx="539496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00" i="1" dirty="0">
                <a:solidFill>
                  <a:srgbClr val="5B6B7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Global feature importance (Ch.8) — the same engineered features SHAP explains per-patient at inference time.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263640" y="1600200"/>
            <a:ext cx="5440680" cy="1170432"/>
          </a:xfrm>
          <a:prstGeom prst="roundRect">
            <a:avLst>
              <a:gd name="adj" fmla="val 6250"/>
            </a:avLst>
          </a:prstGeom>
          <a:solidFill>
            <a:srgbClr val="E8F1F8"/>
          </a:solidFill>
        </p:spPr>
        <p:txBody>
          <a:bodyPr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428232" y="1965960"/>
            <a:ext cx="438912" cy="438912"/>
          </a:xfrm>
          <a:prstGeom prst="ellipse">
            <a:avLst/>
          </a:prstGeom>
          <a:solidFill>
            <a:srgbClr val="155A8A"/>
          </a:solidFill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6240" y="2123968"/>
            <a:ext cx="122895" cy="12289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95160" y="1709928"/>
            <a:ext cx="45262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E4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Feature Importance Analysis</a:t>
            </a:r>
            <a:endParaRPr lang="ar-EG" altLang="en-US" sz="1250" b="1" dirty="0">
              <a:solidFill>
                <a:srgbClr val="0B2E4E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13" name="Text 9"/>
          <p:cNvSpPr/>
          <p:nvPr/>
        </p:nvSpPr>
        <p:spPr>
          <a:xfrm>
            <a:off x="6995160" y="2020824"/>
            <a:ext cx="4526280" cy="6675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altLang="en-US" sz="1200" dirty="0"/>
              <a:t>identify which clinical variables contribute most to cardiovascular risk prediction. These scores were used to understand the model's overall behavior.</a:t>
            </a:r>
            <a:endParaRPr lang="en-US" alt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263640" y="2916936"/>
            <a:ext cx="5440680" cy="1170432"/>
          </a:xfrm>
          <a:prstGeom prst="roundRect">
            <a:avLst>
              <a:gd name="adj" fmla="val 6250"/>
            </a:avLst>
          </a:prstGeom>
          <a:solidFill>
            <a:srgbClr val="F4F6F8"/>
          </a:solidFill>
        </p:spPr>
      </p:sp>
      <p:sp>
        <p:nvSpPr>
          <p:cNvPr id="15" name="Shape 11"/>
          <p:cNvSpPr/>
          <p:nvPr/>
        </p:nvSpPr>
        <p:spPr>
          <a:xfrm>
            <a:off x="6428232" y="3282696"/>
            <a:ext cx="438912" cy="438912"/>
          </a:xfrm>
          <a:prstGeom prst="ellipse">
            <a:avLst/>
          </a:prstGeom>
          <a:solidFill>
            <a:srgbClr val="155A8A"/>
          </a:solidFill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6240" y="3440704"/>
            <a:ext cx="122895" cy="12289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995160" y="3026664"/>
            <a:ext cx="45262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E4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Rule-Based Patient Interpretation</a:t>
            </a:r>
            <a:endParaRPr lang="en-US" sz="1250" b="1" dirty="0">
              <a:solidFill>
                <a:srgbClr val="0B2E4E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18" name="Text 13"/>
          <p:cNvSpPr/>
          <p:nvPr/>
        </p:nvSpPr>
        <p:spPr>
          <a:xfrm>
            <a:off x="6995160" y="3337560"/>
            <a:ext cx="4526280" cy="6675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200" dirty="0">
                <a:solidFill>
                  <a:srgbClr val="1724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One signed contribution value per feature, computed fresh for each patient, showing how it pushed that patient's risk up or down.</a:t>
            </a:r>
            <a:endParaRPr lang="en-US" sz="1200" dirty="0">
              <a:solidFill>
                <a:srgbClr val="17242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9" name="Shape 14"/>
          <p:cNvSpPr/>
          <p:nvPr/>
        </p:nvSpPr>
        <p:spPr>
          <a:xfrm>
            <a:off x="6263640" y="4233672"/>
            <a:ext cx="5440680" cy="1170432"/>
          </a:xfrm>
          <a:prstGeom prst="roundRect">
            <a:avLst>
              <a:gd name="adj" fmla="val 6250"/>
            </a:avLst>
          </a:prstGeom>
          <a:solidFill>
            <a:srgbClr val="E8F1F8"/>
          </a:solidFill>
        </p:spPr>
      </p:sp>
      <p:sp>
        <p:nvSpPr>
          <p:cNvPr id="20" name="Shape 15"/>
          <p:cNvSpPr/>
          <p:nvPr/>
        </p:nvSpPr>
        <p:spPr>
          <a:xfrm>
            <a:off x="6428232" y="4599432"/>
            <a:ext cx="438912" cy="438912"/>
          </a:xfrm>
          <a:prstGeom prst="ellipse">
            <a:avLst/>
          </a:prstGeom>
          <a:solidFill>
            <a:srgbClr val="155A8A"/>
          </a:solidFill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6240" y="4757440"/>
            <a:ext cx="122895" cy="12289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995160" y="4466590"/>
            <a:ext cx="45262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2E4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Personalized Risk Factors</a:t>
            </a:r>
            <a:endParaRPr lang="en-US" sz="1250" b="1" dirty="0">
              <a:solidFill>
                <a:srgbClr val="0B2E4E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23" name="Text 17"/>
          <p:cNvSpPr/>
          <p:nvPr/>
        </p:nvSpPr>
        <p:spPr>
          <a:xfrm>
            <a:off x="6995160" y="4654296"/>
            <a:ext cx="4526280" cy="6675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altLang="en-US" sz="1000" dirty="0"/>
              <a:t>The application selects the patient's most influential abnormal risk factors from the predefined ranked features and converts them into understandable clinical messages rather than displaying technical model outputs.</a:t>
            </a:r>
            <a:endParaRPr lang="en-US" altLang="en-US" sz="1000" dirty="0"/>
          </a:p>
        </p:txBody>
      </p:sp>
      <p:sp>
        <p:nvSpPr>
          <p:cNvPr id="28" name="Text 21"/>
          <p:cNvSpPr/>
          <p:nvPr/>
        </p:nvSpPr>
        <p:spPr>
          <a:xfrm>
            <a:off x="6995160" y="5971032"/>
            <a:ext cx="4526280" cy="6675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endParaRPr lang="en-US" sz="9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20995</Words>
  <Application>WPS Presentation</Application>
  <PresentationFormat>On-screen Show (16:9)</PresentationFormat>
  <Paragraphs>1231</Paragraphs>
  <Slides>46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46</vt:i4>
      </vt:variant>
    </vt:vector>
  </HeadingPairs>
  <TitlesOfParts>
    <vt:vector size="64" baseType="lpstr">
      <vt:lpstr>Arial</vt:lpstr>
      <vt:lpstr>SimSun</vt:lpstr>
      <vt:lpstr>Wingdings</vt:lpstr>
      <vt:lpstr>Calibri</vt:lpstr>
      <vt:lpstr>Calibri</vt:lpstr>
      <vt:lpstr>Calibri</vt:lpstr>
      <vt:lpstr>Cambria</vt:lpstr>
      <vt:lpstr>Cambria</vt:lpstr>
      <vt:lpstr>Cambria</vt:lpstr>
      <vt:lpstr>Microsoft YaHei</vt:lpstr>
      <vt:lpstr>Arial Unicode MS</vt:lpstr>
      <vt:lpstr>Courier New</vt:lpstr>
      <vt:lpstr>Courier New</vt:lpstr>
      <vt:lpstr>Courier New</vt:lpstr>
      <vt:lpstr>Arial</vt:lpstr>
      <vt:lpstr>Office Theme</vt:lpstr>
      <vt:lpstr>1_Office Theme</vt:lpstr>
      <vt:lpstr>2_Office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HeartGuard — Early Cardiac Screening</dc:title>
  <dc:creator>HeartGuard</dc:creator>
  <dc:subject>PptxGenJS Presentation</dc:subject>
  <cp:lastModifiedBy>Marvy EhabKamal</cp:lastModifiedBy>
  <cp:revision>12</cp:revision>
  <dcterms:created xsi:type="dcterms:W3CDTF">2026-07-06T19:22:00Z</dcterms:created>
  <dcterms:modified xsi:type="dcterms:W3CDTF">2026-07-11T16:28:35Z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1033-12.1.0.26880</vt:lpwstr>
  </property>
  <property fmtid="{D5CDD505-2E9C-101B-9397-08002B2CF9AE}" pid="3" name="ICV">
    <vt:lpwstr>718A7D734ED5426AABD39CF02B20557C_13</vt:lpwstr>
  </property>
</Properties>
</file>